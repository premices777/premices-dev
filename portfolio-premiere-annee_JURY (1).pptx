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D"/>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16234B"/>
          </a:solidFill>
          <a:ln/>
        </p:spPr>
      </p:sp>
      <p:sp>
        <p:nvSpPr>
          <p:cNvPr id="3" name="Text 1"/>
          <p:cNvSpPr txBox="1"/>
          <p:nvPr/>
        </p:nvSpPr>
        <p:spPr>
          <a:xfrm>
            <a:off x="822960" y="1417320"/>
            <a:ext cx="8229600" cy="365760"/>
          </a:xfrm>
          <a:prstGeom prst="rect">
            <a:avLst/>
          </a:prstGeom>
          <a:noFill/>
          <a:ln/>
        </p:spPr>
        <p:txBody>
          <a:bodyPr wrap="square" lIns="0" tIns="0" rIns="0" bIns="0" rtlCol="0" anchor="ctr"/>
          <a:lstStyle/>
          <a:p>
            <a:pPr indent="0" marL="0">
              <a:buNone/>
            </a:pPr>
            <a:r>
              <a:rPr lang="en-US" sz="1300" b="1" spc="150" kern="0" dirty="0">
                <a:solidFill>
                  <a:srgbClr val="2F63E0"/>
                </a:solidFill>
                <a:latin typeface="Calibri" pitchFamily="34" charset="0"/>
                <a:ea typeface="Calibri" pitchFamily="34" charset="-122"/>
                <a:cs typeface="Calibri" pitchFamily="34" charset="-120"/>
              </a:rPr>
              <a:t>PORTFOLIO — 1ÈRE ANNÉE</a:t>
            </a:r>
            <a:endParaRPr lang="en-US" sz="1300" dirty="0"/>
          </a:p>
        </p:txBody>
      </p:sp>
      <p:sp>
        <p:nvSpPr>
          <p:cNvPr id="4" name="Text 2"/>
          <p:cNvSpPr txBox="1"/>
          <p:nvPr/>
        </p:nvSpPr>
        <p:spPr>
          <a:xfrm>
            <a:off x="777240" y="1828800"/>
            <a:ext cx="7772400" cy="137160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Bachelor Informatique</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 Développement</a:t>
            </a:r>
            <a:endParaRPr lang="en-US" sz="4400" dirty="0"/>
          </a:p>
        </p:txBody>
      </p:sp>
      <p:sp>
        <p:nvSpPr>
          <p:cNvPr id="5" name="Text 3"/>
          <p:cNvSpPr txBox="1"/>
          <p:nvPr/>
        </p:nvSpPr>
        <p:spPr>
          <a:xfrm>
            <a:off x="822960" y="3246120"/>
            <a:ext cx="7589520" cy="457200"/>
          </a:xfrm>
          <a:prstGeom prst="rect">
            <a:avLst/>
          </a:prstGeom>
          <a:noFill/>
          <a:ln/>
        </p:spPr>
        <p:txBody>
          <a:bodyPr wrap="square" lIns="0" tIns="0" rIns="0" bIns="0" rtlCol="0" anchor="ctr"/>
          <a:lstStyle/>
          <a:p>
            <a:pPr indent="0" marL="0">
              <a:buNone/>
            </a:pPr>
            <a:r>
              <a:rPr lang="en-US" sz="1500" dirty="0">
                <a:solidFill>
                  <a:srgbClr val="AEB9D4"/>
                </a:solidFill>
                <a:latin typeface="Calibri" pitchFamily="34" charset="0"/>
                <a:ea typeface="Calibri" pitchFamily="34" charset="-122"/>
                <a:cs typeface="Calibri" pitchFamily="34" charset="-120"/>
              </a:rPr>
              <a:t>Parcours, compétences et projets réalisés au cours de l'année</a:t>
            </a:r>
            <a:endParaRPr lang="en-US" sz="1500" dirty="0"/>
          </a:p>
        </p:txBody>
      </p:sp>
      <p:sp>
        <p:nvSpPr>
          <p:cNvPr id="6" name="Shape 4"/>
          <p:cNvSpPr/>
          <p:nvPr/>
        </p:nvSpPr>
        <p:spPr>
          <a:xfrm>
            <a:off x="822960" y="3931920"/>
            <a:ext cx="1188720" cy="0"/>
          </a:xfrm>
          <a:prstGeom prst="line">
            <a:avLst/>
          </a:prstGeom>
          <a:noFill/>
          <a:ln w="38100">
            <a:solidFill>
              <a:srgbClr val="2F63E0"/>
            </a:solidFill>
            <a:prstDash val="solid"/>
          </a:ln>
        </p:spPr>
      </p:sp>
      <p:sp>
        <p:nvSpPr>
          <p:cNvPr id="7" name="Text 5"/>
          <p:cNvSpPr txBox="1"/>
          <p:nvPr/>
        </p:nvSpPr>
        <p:spPr>
          <a:xfrm>
            <a:off x="822960" y="4114800"/>
            <a:ext cx="64008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Premices Jacedan Soulouka-Baka Bitsindou</a:t>
            </a:r>
            <a:endParaRPr lang="en-US" sz="1500" dirty="0"/>
          </a:p>
        </p:txBody>
      </p:sp>
      <p:sp>
        <p:nvSpPr>
          <p:cNvPr id="8" name="Text 6"/>
          <p:cNvSpPr txBox="1"/>
          <p:nvPr/>
        </p:nvSpPr>
        <p:spPr>
          <a:xfrm>
            <a:off x="822960" y="4453128"/>
            <a:ext cx="7315200" cy="320040"/>
          </a:xfrm>
          <a:prstGeom prst="rect">
            <a:avLst/>
          </a:prstGeom>
          <a:noFill/>
          <a:ln/>
        </p:spPr>
        <p:txBody>
          <a:bodyPr wrap="square" lIns="0" tIns="0" rIns="0" bIns="0" rtlCol="0" anchor="ctr"/>
          <a:lstStyle/>
          <a:p>
            <a:pPr indent="0" marL="0">
              <a:buNone/>
            </a:pPr>
            <a:r>
              <a:rPr lang="en-US" sz="1200" dirty="0">
                <a:solidFill>
                  <a:srgbClr val="AEB9D4"/>
                </a:solidFill>
                <a:latin typeface="Calibri" pitchFamily="34" charset="0"/>
                <a:ea typeface="Calibri" pitchFamily="34" charset="-122"/>
                <a:cs typeface="Calibri" pitchFamily="34" charset="-120"/>
              </a:rPr>
              <a:t>IPSSI · Bachelor Info Dev · Année scolaire 2025-2026</a:t>
            </a:r>
            <a:endParaRPr lang="en-US" sz="1200" dirty="0"/>
          </a:p>
        </p:txBody>
      </p:sp>
      <p:sp>
        <p:nvSpPr>
          <p:cNvPr id="9" name="Shape 7"/>
          <p:cNvSpPr/>
          <p:nvPr/>
        </p:nvSpPr>
        <p:spPr>
          <a:xfrm>
            <a:off x="9281160" y="1600200"/>
            <a:ext cx="2103120" cy="2103120"/>
          </a:xfrm>
          <a:prstGeom prst="ellipse">
            <a:avLst/>
          </a:prstGeom>
          <a:solidFill>
            <a:srgbClr val="FFFFFF"/>
          </a:solidFill>
          <a:ln w="38100">
            <a:solidFill>
              <a:srgbClr val="2F63E0"/>
            </a:solidFill>
            <a:prstDash val="solid"/>
          </a:ln>
        </p:spPr>
      </p:sp>
      <p:pic>
        <p:nvPicPr>
          <p:cNvPr id="10" name="Image 0" descr="premices.jpg">    </p:cNvPr>
          <p:cNvPicPr>
            <a:picLocks noChangeAspect="1"/>
          </p:cNvPicPr>
          <p:nvPr/>
        </p:nvPicPr>
        <p:blipFill>
          <a:blip r:embed="rId1"/>
          <a:stretch>
            <a:fillRect/>
          </a:stretch>
        </p:blipFill>
        <p:spPr>
          <a:xfrm>
            <a:off x="9400032" y="1719072"/>
            <a:ext cx="1865376" cy="1865376"/>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200" b="1" spc="100" kern="0" dirty="0">
                <a:solidFill>
                  <a:srgbClr val="2F63E0"/>
                </a:solidFill>
                <a:latin typeface="Calibri" pitchFamily="34" charset="0"/>
                <a:ea typeface="Calibri" pitchFamily="34" charset="-122"/>
                <a:cs typeface="Calibri" pitchFamily="34" charset="-120"/>
              </a:rPr>
              <a:t>SOMMAIRE</a:t>
            </a:r>
            <a:endParaRPr lang="en-US" sz="1200" dirty="0"/>
          </a:p>
        </p:txBody>
      </p:sp>
      <p:sp>
        <p:nvSpPr>
          <p:cNvPr id="3" name="Text 1"/>
          <p:cNvSpPr txBox="1"/>
          <p:nvPr/>
        </p:nvSpPr>
        <p:spPr>
          <a:xfrm>
            <a:off x="640080" y="749808"/>
            <a:ext cx="10789920" cy="731520"/>
          </a:xfrm>
          <a:prstGeom prst="rect">
            <a:avLst/>
          </a:prstGeom>
          <a:noFill/>
          <a:ln/>
        </p:spPr>
        <p:txBody>
          <a:bodyPr wrap="square" lIns="0" tIns="0" rIns="0" bIns="0" rtlCol="0" anchor="ctr"/>
          <a:lstStyle/>
          <a:p>
            <a:pPr indent="0" marL="0">
              <a:buNone/>
            </a:pPr>
            <a:r>
              <a:rPr lang="en-US" sz="2800" b="1" dirty="0">
                <a:solidFill>
                  <a:srgbClr val="16223D"/>
                </a:solidFill>
                <a:latin typeface="Cambria" pitchFamily="34" charset="0"/>
                <a:ea typeface="Cambria" pitchFamily="34" charset="-122"/>
                <a:cs typeface="Cambria" pitchFamily="34" charset="-120"/>
              </a:rPr>
              <a:t>Ce que je vais vous présenter</a:t>
            </a:r>
            <a:endParaRPr lang="en-US" sz="2800" dirty="0"/>
          </a:p>
        </p:txBody>
      </p:sp>
      <p:sp>
        <p:nvSpPr>
          <p:cNvPr id="4" name="Shape 2"/>
          <p:cNvSpPr/>
          <p:nvPr/>
        </p:nvSpPr>
        <p:spPr>
          <a:xfrm>
            <a:off x="731520" y="1783080"/>
            <a:ext cx="502920" cy="502920"/>
          </a:xfrm>
          <a:prstGeom prst="ellipse">
            <a:avLst/>
          </a:prstGeom>
          <a:solidFill>
            <a:srgbClr val="2F63E0"/>
          </a:solidFill>
          <a:ln/>
        </p:spPr>
      </p:sp>
      <p:sp>
        <p:nvSpPr>
          <p:cNvPr id="5" name="Text 3"/>
          <p:cNvSpPr txBox="1"/>
          <p:nvPr/>
        </p:nvSpPr>
        <p:spPr>
          <a:xfrm>
            <a:off x="731520" y="17830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01</a:t>
            </a:r>
            <a:endParaRPr lang="en-US" sz="1500" dirty="0"/>
          </a:p>
        </p:txBody>
      </p:sp>
      <p:sp>
        <p:nvSpPr>
          <p:cNvPr id="6" name="Text 4"/>
          <p:cNvSpPr txBox="1"/>
          <p:nvPr/>
        </p:nvSpPr>
        <p:spPr>
          <a:xfrm>
            <a:off x="1463040" y="1728216"/>
            <a:ext cx="3657600" cy="365760"/>
          </a:xfrm>
          <a:prstGeom prst="rect">
            <a:avLst/>
          </a:prstGeom>
          <a:noFill/>
          <a:ln/>
        </p:spPr>
        <p:txBody>
          <a:bodyPr wrap="square" lIns="0" tIns="0" rIns="0" bIns="0" rtlCol="0" anchor="ctr"/>
          <a:lstStyle/>
          <a:p>
            <a:pPr indent="0" marL="0">
              <a:buNone/>
            </a:pPr>
            <a:r>
              <a:rPr lang="en-US" sz="1700" b="1" dirty="0">
                <a:solidFill>
                  <a:srgbClr val="16223D"/>
                </a:solidFill>
                <a:latin typeface="Cambria" pitchFamily="34" charset="0"/>
                <a:ea typeface="Cambria" pitchFamily="34" charset="-122"/>
                <a:cs typeface="Cambria" pitchFamily="34" charset="-120"/>
              </a:rPr>
              <a:t>Profil</a:t>
            </a:r>
            <a:endParaRPr lang="en-US" sz="1700" dirty="0"/>
          </a:p>
        </p:txBody>
      </p:sp>
      <p:sp>
        <p:nvSpPr>
          <p:cNvPr id="7" name="Text 5"/>
          <p:cNvSpPr txBox="1"/>
          <p:nvPr/>
        </p:nvSpPr>
        <p:spPr>
          <a:xfrm>
            <a:off x="1463040" y="2057400"/>
            <a:ext cx="640080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Qui je suis, mon parcours à l'IPSSI</a:t>
            </a:r>
            <a:endParaRPr lang="en-US" sz="1250" dirty="0"/>
          </a:p>
        </p:txBody>
      </p:sp>
      <p:sp>
        <p:nvSpPr>
          <p:cNvPr id="8" name="Shape 6"/>
          <p:cNvSpPr/>
          <p:nvPr/>
        </p:nvSpPr>
        <p:spPr>
          <a:xfrm>
            <a:off x="731520" y="2679192"/>
            <a:ext cx="502920" cy="502920"/>
          </a:xfrm>
          <a:prstGeom prst="ellipse">
            <a:avLst/>
          </a:prstGeom>
          <a:solidFill>
            <a:srgbClr val="2F63E0"/>
          </a:solidFill>
          <a:ln/>
        </p:spPr>
      </p:sp>
      <p:sp>
        <p:nvSpPr>
          <p:cNvPr id="9" name="Text 7"/>
          <p:cNvSpPr txBox="1"/>
          <p:nvPr/>
        </p:nvSpPr>
        <p:spPr>
          <a:xfrm>
            <a:off x="731520" y="267919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02</a:t>
            </a:r>
            <a:endParaRPr lang="en-US" sz="1500" dirty="0"/>
          </a:p>
        </p:txBody>
      </p:sp>
      <p:sp>
        <p:nvSpPr>
          <p:cNvPr id="10" name="Text 8"/>
          <p:cNvSpPr txBox="1"/>
          <p:nvPr/>
        </p:nvSpPr>
        <p:spPr>
          <a:xfrm>
            <a:off x="1463040" y="2624328"/>
            <a:ext cx="3657600" cy="365760"/>
          </a:xfrm>
          <a:prstGeom prst="rect">
            <a:avLst/>
          </a:prstGeom>
          <a:noFill/>
          <a:ln/>
        </p:spPr>
        <p:txBody>
          <a:bodyPr wrap="square" lIns="0" tIns="0" rIns="0" bIns="0" rtlCol="0" anchor="ctr"/>
          <a:lstStyle/>
          <a:p>
            <a:pPr indent="0" marL="0">
              <a:buNone/>
            </a:pPr>
            <a:r>
              <a:rPr lang="en-US" sz="1700" b="1" dirty="0">
                <a:solidFill>
                  <a:srgbClr val="16223D"/>
                </a:solidFill>
                <a:latin typeface="Cambria" pitchFamily="34" charset="0"/>
                <a:ea typeface="Cambria" pitchFamily="34" charset="-122"/>
                <a:cs typeface="Cambria" pitchFamily="34" charset="-120"/>
              </a:rPr>
              <a:t>Formation</a:t>
            </a:r>
            <a:endParaRPr lang="en-US" sz="1700" dirty="0"/>
          </a:p>
        </p:txBody>
      </p:sp>
      <p:sp>
        <p:nvSpPr>
          <p:cNvPr id="11" name="Text 9"/>
          <p:cNvSpPr txBox="1"/>
          <p:nvPr/>
        </p:nvSpPr>
        <p:spPr>
          <a:xfrm>
            <a:off x="1463040" y="2953512"/>
            <a:ext cx="640080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Les unités d'enseignement de l'année</a:t>
            </a:r>
            <a:endParaRPr lang="en-US" sz="1250" dirty="0"/>
          </a:p>
        </p:txBody>
      </p:sp>
      <p:sp>
        <p:nvSpPr>
          <p:cNvPr id="12" name="Shape 10"/>
          <p:cNvSpPr/>
          <p:nvPr/>
        </p:nvSpPr>
        <p:spPr>
          <a:xfrm>
            <a:off x="731520" y="3575304"/>
            <a:ext cx="502920" cy="502920"/>
          </a:xfrm>
          <a:prstGeom prst="ellipse">
            <a:avLst/>
          </a:prstGeom>
          <a:solidFill>
            <a:srgbClr val="2F63E0"/>
          </a:solidFill>
          <a:ln/>
        </p:spPr>
      </p:sp>
      <p:sp>
        <p:nvSpPr>
          <p:cNvPr id="13" name="Text 11"/>
          <p:cNvSpPr txBox="1"/>
          <p:nvPr/>
        </p:nvSpPr>
        <p:spPr>
          <a:xfrm>
            <a:off x="731520" y="3575304"/>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03</a:t>
            </a:r>
            <a:endParaRPr lang="en-US" sz="1500" dirty="0"/>
          </a:p>
        </p:txBody>
      </p:sp>
      <p:sp>
        <p:nvSpPr>
          <p:cNvPr id="14" name="Text 12"/>
          <p:cNvSpPr txBox="1"/>
          <p:nvPr/>
        </p:nvSpPr>
        <p:spPr>
          <a:xfrm>
            <a:off x="1463040" y="3520440"/>
            <a:ext cx="3657600" cy="365760"/>
          </a:xfrm>
          <a:prstGeom prst="rect">
            <a:avLst/>
          </a:prstGeom>
          <a:noFill/>
          <a:ln/>
        </p:spPr>
        <p:txBody>
          <a:bodyPr wrap="square" lIns="0" tIns="0" rIns="0" bIns="0" rtlCol="0" anchor="ctr"/>
          <a:lstStyle/>
          <a:p>
            <a:pPr indent="0" marL="0">
              <a:buNone/>
            </a:pPr>
            <a:r>
              <a:rPr lang="en-US" sz="1700" b="1" dirty="0">
                <a:solidFill>
                  <a:srgbClr val="16223D"/>
                </a:solidFill>
                <a:latin typeface="Cambria" pitchFamily="34" charset="0"/>
                <a:ea typeface="Cambria" pitchFamily="34" charset="-122"/>
                <a:cs typeface="Cambria" pitchFamily="34" charset="-120"/>
              </a:rPr>
              <a:t>Compétences</a:t>
            </a:r>
            <a:endParaRPr lang="en-US" sz="1700" dirty="0"/>
          </a:p>
        </p:txBody>
      </p:sp>
      <p:sp>
        <p:nvSpPr>
          <p:cNvPr id="15" name="Text 13"/>
          <p:cNvSpPr txBox="1"/>
          <p:nvPr/>
        </p:nvSpPr>
        <p:spPr>
          <a:xfrm>
            <a:off x="1463040" y="3849624"/>
            <a:ext cx="640080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Techniques et transversales</a:t>
            </a:r>
            <a:endParaRPr lang="en-US" sz="1250" dirty="0"/>
          </a:p>
        </p:txBody>
      </p:sp>
      <p:sp>
        <p:nvSpPr>
          <p:cNvPr id="16" name="Shape 14"/>
          <p:cNvSpPr/>
          <p:nvPr/>
        </p:nvSpPr>
        <p:spPr>
          <a:xfrm>
            <a:off x="731520" y="4471416"/>
            <a:ext cx="502920" cy="502920"/>
          </a:xfrm>
          <a:prstGeom prst="ellipse">
            <a:avLst/>
          </a:prstGeom>
          <a:solidFill>
            <a:srgbClr val="2F63E0"/>
          </a:solidFill>
          <a:ln/>
        </p:spPr>
      </p:sp>
      <p:sp>
        <p:nvSpPr>
          <p:cNvPr id="17" name="Text 15"/>
          <p:cNvSpPr txBox="1"/>
          <p:nvPr/>
        </p:nvSpPr>
        <p:spPr>
          <a:xfrm>
            <a:off x="731520" y="447141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04</a:t>
            </a:r>
            <a:endParaRPr lang="en-US" sz="1500" dirty="0"/>
          </a:p>
        </p:txBody>
      </p:sp>
      <p:sp>
        <p:nvSpPr>
          <p:cNvPr id="18" name="Text 16"/>
          <p:cNvSpPr txBox="1"/>
          <p:nvPr/>
        </p:nvSpPr>
        <p:spPr>
          <a:xfrm>
            <a:off x="1463040" y="4416552"/>
            <a:ext cx="3657600" cy="365760"/>
          </a:xfrm>
          <a:prstGeom prst="rect">
            <a:avLst/>
          </a:prstGeom>
          <a:noFill/>
          <a:ln/>
        </p:spPr>
        <p:txBody>
          <a:bodyPr wrap="square" lIns="0" tIns="0" rIns="0" bIns="0" rtlCol="0" anchor="ctr"/>
          <a:lstStyle/>
          <a:p>
            <a:pPr indent="0" marL="0">
              <a:buNone/>
            </a:pPr>
            <a:r>
              <a:rPr lang="en-US" sz="1700" b="1" dirty="0">
                <a:solidFill>
                  <a:srgbClr val="16223D"/>
                </a:solidFill>
                <a:latin typeface="Cambria" pitchFamily="34" charset="0"/>
                <a:ea typeface="Cambria" pitchFamily="34" charset="-122"/>
                <a:cs typeface="Cambria" pitchFamily="34" charset="-120"/>
              </a:rPr>
              <a:t>Projets</a:t>
            </a:r>
            <a:endParaRPr lang="en-US" sz="1700" dirty="0"/>
          </a:p>
        </p:txBody>
      </p:sp>
      <p:sp>
        <p:nvSpPr>
          <p:cNvPr id="19" name="Text 17"/>
          <p:cNvSpPr txBox="1"/>
          <p:nvPr/>
        </p:nvSpPr>
        <p:spPr>
          <a:xfrm>
            <a:off x="1463040" y="4745736"/>
            <a:ext cx="640080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Les réalisations de l'année</a:t>
            </a:r>
            <a:endParaRPr lang="en-US" sz="1250" dirty="0"/>
          </a:p>
        </p:txBody>
      </p:sp>
      <p:sp>
        <p:nvSpPr>
          <p:cNvPr id="20" name="Shape 18"/>
          <p:cNvSpPr/>
          <p:nvPr/>
        </p:nvSpPr>
        <p:spPr>
          <a:xfrm>
            <a:off x="731520" y="5367528"/>
            <a:ext cx="502920" cy="502920"/>
          </a:xfrm>
          <a:prstGeom prst="ellipse">
            <a:avLst/>
          </a:prstGeom>
          <a:solidFill>
            <a:srgbClr val="2F63E0"/>
          </a:solidFill>
          <a:ln/>
        </p:spPr>
      </p:sp>
      <p:sp>
        <p:nvSpPr>
          <p:cNvPr id="21" name="Text 19"/>
          <p:cNvSpPr txBox="1"/>
          <p:nvPr/>
        </p:nvSpPr>
        <p:spPr>
          <a:xfrm>
            <a:off x="731520" y="536752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05</a:t>
            </a:r>
            <a:endParaRPr lang="en-US" sz="1500" dirty="0"/>
          </a:p>
        </p:txBody>
      </p:sp>
      <p:sp>
        <p:nvSpPr>
          <p:cNvPr id="22" name="Text 20"/>
          <p:cNvSpPr txBox="1"/>
          <p:nvPr/>
        </p:nvSpPr>
        <p:spPr>
          <a:xfrm>
            <a:off x="1463040" y="5312664"/>
            <a:ext cx="3657600" cy="365760"/>
          </a:xfrm>
          <a:prstGeom prst="rect">
            <a:avLst/>
          </a:prstGeom>
          <a:noFill/>
          <a:ln/>
        </p:spPr>
        <p:txBody>
          <a:bodyPr wrap="square" lIns="0" tIns="0" rIns="0" bIns="0" rtlCol="0" anchor="ctr"/>
          <a:lstStyle/>
          <a:p>
            <a:pPr indent="0" marL="0">
              <a:buNone/>
            </a:pPr>
            <a:r>
              <a:rPr lang="en-US" sz="1700" b="1" dirty="0">
                <a:solidFill>
                  <a:srgbClr val="16223D"/>
                </a:solidFill>
                <a:latin typeface="Cambria" pitchFamily="34" charset="0"/>
                <a:ea typeface="Cambria" pitchFamily="34" charset="-122"/>
                <a:cs typeface="Cambria" pitchFamily="34" charset="-120"/>
              </a:rPr>
              <a:t>Perspectives</a:t>
            </a:r>
            <a:endParaRPr lang="en-US" sz="1700" dirty="0"/>
          </a:p>
        </p:txBody>
      </p:sp>
      <p:sp>
        <p:nvSpPr>
          <p:cNvPr id="23" name="Text 21"/>
          <p:cNvSpPr txBox="1"/>
          <p:nvPr/>
        </p:nvSpPr>
        <p:spPr>
          <a:xfrm>
            <a:off x="1463040" y="5641848"/>
            <a:ext cx="640080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Mon projet professionnel</a:t>
            </a:r>
            <a:endParaRPr lang="en-US" sz="1250" dirty="0"/>
          </a:p>
        </p:txBody>
      </p:sp>
      <p:sp>
        <p:nvSpPr>
          <p:cNvPr id="24" name="Text 2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Portfolio — 1ère année IPSSI</a:t>
            </a:r>
            <a:endParaRPr lang="en-US" sz="1000" dirty="0"/>
          </a:p>
        </p:txBody>
      </p:sp>
      <p:sp>
        <p:nvSpPr>
          <p:cNvPr id="25" name="Text 23"/>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200" b="1" spc="100" kern="0" dirty="0">
                <a:solidFill>
                  <a:srgbClr val="2F63E0"/>
                </a:solidFill>
                <a:latin typeface="Calibri" pitchFamily="34" charset="0"/>
                <a:ea typeface="Calibri" pitchFamily="34" charset="-122"/>
                <a:cs typeface="Calibri" pitchFamily="34" charset="-120"/>
              </a:rPr>
              <a:t>PROFIL</a:t>
            </a:r>
            <a:endParaRPr lang="en-US" sz="1200" dirty="0"/>
          </a:p>
        </p:txBody>
      </p:sp>
      <p:sp>
        <p:nvSpPr>
          <p:cNvPr id="3" name="Text 1"/>
          <p:cNvSpPr txBox="1"/>
          <p:nvPr/>
        </p:nvSpPr>
        <p:spPr>
          <a:xfrm>
            <a:off x="640080" y="749808"/>
            <a:ext cx="10789920" cy="731520"/>
          </a:xfrm>
          <a:prstGeom prst="rect">
            <a:avLst/>
          </a:prstGeom>
          <a:noFill/>
          <a:ln/>
        </p:spPr>
        <p:txBody>
          <a:bodyPr wrap="square" lIns="0" tIns="0" rIns="0" bIns="0" rtlCol="0" anchor="ctr"/>
          <a:lstStyle/>
          <a:p>
            <a:pPr indent="0" marL="0">
              <a:buNone/>
            </a:pPr>
            <a:r>
              <a:rPr lang="en-US" sz="2800" b="1" dirty="0">
                <a:solidFill>
                  <a:srgbClr val="16223D"/>
                </a:solidFill>
                <a:latin typeface="Cambria" pitchFamily="34" charset="0"/>
                <a:ea typeface="Cambria" pitchFamily="34" charset="-122"/>
                <a:cs typeface="Cambria" pitchFamily="34" charset="-120"/>
              </a:rPr>
              <a:t>Qui je suis</a:t>
            </a:r>
            <a:endParaRPr lang="en-US" sz="2800" dirty="0"/>
          </a:p>
        </p:txBody>
      </p:sp>
      <p:sp>
        <p:nvSpPr>
          <p:cNvPr id="4" name="Shape 2"/>
          <p:cNvSpPr/>
          <p:nvPr/>
        </p:nvSpPr>
        <p:spPr>
          <a:xfrm>
            <a:off x="640080" y="1874520"/>
            <a:ext cx="6583680" cy="4206240"/>
          </a:xfrm>
          <a:prstGeom prst="roundRect">
            <a:avLst>
              <a:gd name="adj" fmla="val 1739"/>
            </a:avLst>
          </a:prstGeom>
          <a:solidFill>
            <a:srgbClr val="FFFFFF"/>
          </a:solidFill>
          <a:ln w="12700">
            <a:solidFill>
              <a:srgbClr val="E3E8F3"/>
            </a:solidFill>
            <a:prstDash val="solid"/>
          </a:ln>
        </p:spPr>
      </p:sp>
      <p:pic>
        <p:nvPicPr>
          <p:cNvPr id="5" name="Image 0" descr="premices.jpg">    </p:cNvPr>
          <p:cNvPicPr>
            <a:picLocks noChangeAspect="1"/>
          </p:cNvPicPr>
          <p:nvPr/>
        </p:nvPicPr>
        <p:blipFill>
          <a:blip r:embed="rId1"/>
          <a:stretch>
            <a:fillRect/>
          </a:stretch>
        </p:blipFill>
        <p:spPr>
          <a:xfrm>
            <a:off x="960120" y="2194560"/>
            <a:ext cx="1371600" cy="1371600"/>
          </a:xfrm>
          <a:prstGeom prst="ellipse">
            <a:avLst/>
          </a:prstGeom>
        </p:spPr>
      </p:pic>
      <p:sp>
        <p:nvSpPr>
          <p:cNvPr id="6" name="Text 3"/>
          <p:cNvSpPr txBox="1"/>
          <p:nvPr/>
        </p:nvSpPr>
        <p:spPr>
          <a:xfrm>
            <a:off x="2514600" y="2240280"/>
            <a:ext cx="4480560" cy="731520"/>
          </a:xfrm>
          <a:prstGeom prst="rect">
            <a:avLst/>
          </a:prstGeom>
          <a:noFill/>
          <a:ln/>
        </p:spPr>
        <p:txBody>
          <a:bodyPr wrap="square" lIns="0" tIns="0" rIns="0" bIns="0" rtlCol="0" anchor="ctr"/>
          <a:lstStyle/>
          <a:p>
            <a:pPr indent="0" marL="0">
              <a:lnSpc>
                <a:spcPct val="105000"/>
              </a:lnSpc>
              <a:buNone/>
            </a:pPr>
            <a:r>
              <a:rPr lang="en-US" sz="1800" b="1" dirty="0">
                <a:solidFill>
                  <a:srgbClr val="16223D"/>
                </a:solidFill>
                <a:latin typeface="Cambria" pitchFamily="34" charset="0"/>
                <a:ea typeface="Cambria" pitchFamily="34" charset="-122"/>
                <a:cs typeface="Cambria" pitchFamily="34" charset="-120"/>
              </a:rPr>
              <a:t>Premices Jacedan</a:t>
            </a:r>
            <a:endParaRPr lang="en-US" sz="1800" dirty="0"/>
          </a:p>
          <a:p>
            <a:pPr indent="0" marL="0">
              <a:lnSpc>
                <a:spcPct val="105000"/>
              </a:lnSpc>
              <a:buNone/>
            </a:pPr>
            <a:r>
              <a:rPr lang="en-US" sz="1800" b="1" dirty="0">
                <a:solidFill>
                  <a:srgbClr val="16223D"/>
                </a:solidFill>
                <a:latin typeface="Cambria" pitchFamily="34" charset="0"/>
                <a:ea typeface="Cambria" pitchFamily="34" charset="-122"/>
                <a:cs typeface="Cambria" pitchFamily="34" charset="-120"/>
              </a:rPr>
              <a:t>Soulouka-Baka Bitsindou</a:t>
            </a:r>
            <a:endParaRPr lang="en-US" sz="1800" dirty="0"/>
          </a:p>
        </p:txBody>
      </p:sp>
      <p:sp>
        <p:nvSpPr>
          <p:cNvPr id="7" name="Text 4"/>
          <p:cNvSpPr txBox="1"/>
          <p:nvPr/>
        </p:nvSpPr>
        <p:spPr>
          <a:xfrm>
            <a:off x="2514600" y="2926080"/>
            <a:ext cx="4480560" cy="365760"/>
          </a:xfrm>
          <a:prstGeom prst="rect">
            <a:avLst/>
          </a:prstGeom>
          <a:noFill/>
          <a:ln/>
        </p:spPr>
        <p:txBody>
          <a:bodyPr wrap="square" lIns="0" tIns="0" rIns="0" bIns="0" rtlCol="0" anchor="ctr"/>
          <a:lstStyle/>
          <a:p>
            <a:pPr indent="0" marL="0">
              <a:buNone/>
            </a:pPr>
            <a:r>
              <a:rPr lang="en-US" sz="1300" dirty="0">
                <a:solidFill>
                  <a:srgbClr val="2F63E0"/>
                </a:solidFill>
                <a:latin typeface="Calibri" pitchFamily="34" charset="0"/>
                <a:ea typeface="Calibri" pitchFamily="34" charset="-122"/>
                <a:cs typeface="Calibri" pitchFamily="34" charset="-120"/>
              </a:rPr>
              <a:t>Étudiant en Bachelor Informatique — Développement</a:t>
            </a:r>
            <a:endParaRPr lang="en-US" sz="1300" dirty="0"/>
          </a:p>
        </p:txBody>
      </p:sp>
      <p:sp>
        <p:nvSpPr>
          <p:cNvPr id="8" name="Text 5"/>
          <p:cNvSpPr txBox="1"/>
          <p:nvPr/>
        </p:nvSpPr>
        <p:spPr>
          <a:xfrm>
            <a:off x="960120" y="3703320"/>
            <a:ext cx="5943600" cy="2194560"/>
          </a:xfrm>
          <a:prstGeom prst="rect">
            <a:avLst/>
          </a:prstGeom>
          <a:noFill/>
          <a:ln/>
        </p:spPr>
        <p:txBody>
          <a:bodyPr wrap="square" lIns="0" tIns="0" rIns="0" bIns="0" rtlCol="0" anchor="ctr"/>
          <a:lstStyle/>
          <a:p>
            <a:pPr indent="0" marL="0">
              <a:lnSpc>
                <a:spcPct val="120000"/>
              </a:lnSpc>
              <a:buNone/>
            </a:pPr>
            <a:r>
              <a:rPr lang="en-US" sz="1300" dirty="0">
                <a:solidFill>
                  <a:srgbClr val="16223D"/>
                </a:solidFill>
                <a:latin typeface="Calibri" pitchFamily="34" charset="0"/>
                <a:ea typeface="Calibri" pitchFamily="34" charset="-122"/>
                <a:cs typeface="Calibri" pitchFamily="34" charset="-120"/>
              </a:rPr>
              <a:t>Né le 18 octobre 2007 à Pointe-Noire, au Congo-Brazzaville, je suis aujourd'hui étudiant en 1ère année de Bachelor Informatique à l'IPSSI. Curieux et autonome, j'aime apprendre en pratiquant, à travers des projets concrets plutôt que par la seule théorie. Cette première année m'a permis de découvrir de nombreux domaines de l'informatique — développement web, systèmes, réseaux, cybersécurité, développement de jeux — et de commencer à construire mes propres repères techniques.</a:t>
            </a:r>
            <a:endParaRPr lang="en-US" sz="1300" dirty="0"/>
          </a:p>
        </p:txBody>
      </p:sp>
      <p:sp>
        <p:nvSpPr>
          <p:cNvPr id="9" name="Shape 6"/>
          <p:cNvSpPr/>
          <p:nvPr/>
        </p:nvSpPr>
        <p:spPr>
          <a:xfrm>
            <a:off x="7452360" y="1874520"/>
            <a:ext cx="4114800" cy="4206240"/>
          </a:xfrm>
          <a:prstGeom prst="roundRect">
            <a:avLst>
              <a:gd name="adj" fmla="val 1778"/>
            </a:avLst>
          </a:prstGeom>
          <a:solidFill>
            <a:srgbClr val="0F1B3D"/>
          </a:solidFill>
          <a:ln/>
        </p:spPr>
      </p:sp>
      <p:sp>
        <p:nvSpPr>
          <p:cNvPr id="10" name="Text 7"/>
          <p:cNvSpPr txBox="1"/>
          <p:nvPr/>
        </p:nvSpPr>
        <p:spPr>
          <a:xfrm>
            <a:off x="7818120" y="2148840"/>
            <a:ext cx="3383280" cy="274320"/>
          </a:xfrm>
          <a:prstGeom prst="rect">
            <a:avLst/>
          </a:prstGeom>
          <a:noFill/>
          <a:ln/>
        </p:spPr>
        <p:txBody>
          <a:bodyPr wrap="square" lIns="0" tIns="0" rIns="0" bIns="0" rtlCol="0" anchor="ctr"/>
          <a:lstStyle/>
          <a:p>
            <a:pPr indent="0" marL="0">
              <a:buNone/>
            </a:pPr>
            <a:r>
              <a:rPr lang="en-US" sz="1200" b="1" spc="100" kern="0" dirty="0">
                <a:solidFill>
                  <a:srgbClr val="E8EEFC"/>
                </a:solidFill>
                <a:latin typeface="Calibri" pitchFamily="34" charset="0"/>
                <a:ea typeface="Calibri" pitchFamily="34" charset="-122"/>
                <a:cs typeface="Calibri" pitchFamily="34" charset="-120"/>
              </a:rPr>
              <a:t>EN BREF</a:t>
            </a:r>
            <a:endParaRPr lang="en-US" sz="1200" dirty="0"/>
          </a:p>
        </p:txBody>
      </p:sp>
      <p:sp>
        <p:nvSpPr>
          <p:cNvPr id="11" name="Text 8"/>
          <p:cNvSpPr txBox="1"/>
          <p:nvPr/>
        </p:nvSpPr>
        <p:spPr>
          <a:xfrm>
            <a:off x="7818120" y="2514600"/>
            <a:ext cx="3383280" cy="228600"/>
          </a:xfrm>
          <a:prstGeom prst="rect">
            <a:avLst/>
          </a:prstGeom>
          <a:noFill/>
          <a:ln/>
        </p:spPr>
        <p:txBody>
          <a:bodyPr wrap="square" lIns="0" tIns="0" rIns="0" bIns="0" rtlCol="0" anchor="ctr"/>
          <a:lstStyle/>
          <a:p>
            <a:pPr indent="0" marL="0">
              <a:buNone/>
            </a:pPr>
            <a:r>
              <a:rPr lang="en-US" sz="1000" b="1" spc="50" kern="0" dirty="0">
                <a:solidFill>
                  <a:srgbClr val="AEB9D4"/>
                </a:solidFill>
                <a:latin typeface="Calibri" pitchFamily="34" charset="0"/>
                <a:ea typeface="Calibri" pitchFamily="34" charset="-122"/>
                <a:cs typeface="Calibri" pitchFamily="34" charset="-120"/>
              </a:rPr>
              <a:t>NÉ LE</a:t>
            </a:r>
            <a:endParaRPr lang="en-US" sz="1000" dirty="0"/>
          </a:p>
        </p:txBody>
      </p:sp>
      <p:sp>
        <p:nvSpPr>
          <p:cNvPr id="12" name="Text 9"/>
          <p:cNvSpPr txBox="1"/>
          <p:nvPr/>
        </p:nvSpPr>
        <p:spPr>
          <a:xfrm>
            <a:off x="7818120" y="2734056"/>
            <a:ext cx="338328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18 octobre 2007</a:t>
            </a:r>
            <a:endParaRPr lang="en-US" sz="1350" dirty="0"/>
          </a:p>
        </p:txBody>
      </p:sp>
      <p:sp>
        <p:nvSpPr>
          <p:cNvPr id="13" name="Text 10"/>
          <p:cNvSpPr txBox="1"/>
          <p:nvPr/>
        </p:nvSpPr>
        <p:spPr>
          <a:xfrm>
            <a:off x="7818120" y="3172968"/>
            <a:ext cx="3383280" cy="228600"/>
          </a:xfrm>
          <a:prstGeom prst="rect">
            <a:avLst/>
          </a:prstGeom>
          <a:noFill/>
          <a:ln/>
        </p:spPr>
        <p:txBody>
          <a:bodyPr wrap="square" lIns="0" tIns="0" rIns="0" bIns="0" rtlCol="0" anchor="ctr"/>
          <a:lstStyle/>
          <a:p>
            <a:pPr indent="0" marL="0">
              <a:buNone/>
            </a:pPr>
            <a:r>
              <a:rPr lang="en-US" sz="1000" b="1" spc="50" kern="0" dirty="0">
                <a:solidFill>
                  <a:srgbClr val="AEB9D4"/>
                </a:solidFill>
                <a:latin typeface="Calibri" pitchFamily="34" charset="0"/>
                <a:ea typeface="Calibri" pitchFamily="34" charset="-122"/>
                <a:cs typeface="Calibri" pitchFamily="34" charset="-120"/>
              </a:rPr>
              <a:t>LIEU DE NAISSANCE</a:t>
            </a:r>
            <a:endParaRPr lang="en-US" sz="1000" dirty="0"/>
          </a:p>
        </p:txBody>
      </p:sp>
      <p:sp>
        <p:nvSpPr>
          <p:cNvPr id="14" name="Text 11"/>
          <p:cNvSpPr txBox="1"/>
          <p:nvPr/>
        </p:nvSpPr>
        <p:spPr>
          <a:xfrm>
            <a:off x="7818120" y="3392424"/>
            <a:ext cx="338328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Pointe-Noire, Congo-Brazzaville</a:t>
            </a:r>
            <a:endParaRPr lang="en-US" sz="1350" dirty="0"/>
          </a:p>
        </p:txBody>
      </p:sp>
      <p:sp>
        <p:nvSpPr>
          <p:cNvPr id="15" name="Text 12"/>
          <p:cNvSpPr txBox="1"/>
          <p:nvPr/>
        </p:nvSpPr>
        <p:spPr>
          <a:xfrm>
            <a:off x="7818120" y="3831336"/>
            <a:ext cx="3383280" cy="228600"/>
          </a:xfrm>
          <a:prstGeom prst="rect">
            <a:avLst/>
          </a:prstGeom>
          <a:noFill/>
          <a:ln/>
        </p:spPr>
        <p:txBody>
          <a:bodyPr wrap="square" lIns="0" tIns="0" rIns="0" bIns="0" rtlCol="0" anchor="ctr"/>
          <a:lstStyle/>
          <a:p>
            <a:pPr indent="0" marL="0">
              <a:buNone/>
            </a:pPr>
            <a:r>
              <a:rPr lang="en-US" sz="1000" b="1" spc="50" kern="0" dirty="0">
                <a:solidFill>
                  <a:srgbClr val="AEB9D4"/>
                </a:solidFill>
                <a:latin typeface="Calibri" pitchFamily="34" charset="0"/>
                <a:ea typeface="Calibri" pitchFamily="34" charset="-122"/>
                <a:cs typeface="Calibri" pitchFamily="34" charset="-120"/>
              </a:rPr>
              <a:t>FORMATION</a:t>
            </a:r>
            <a:endParaRPr lang="en-US" sz="1000" dirty="0"/>
          </a:p>
        </p:txBody>
      </p:sp>
      <p:sp>
        <p:nvSpPr>
          <p:cNvPr id="16" name="Text 13"/>
          <p:cNvSpPr txBox="1"/>
          <p:nvPr/>
        </p:nvSpPr>
        <p:spPr>
          <a:xfrm>
            <a:off x="7818120" y="4050792"/>
            <a:ext cx="338328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Bachelor Info Dev — IPSSI</a:t>
            </a:r>
            <a:endParaRPr lang="en-US" sz="1350" dirty="0"/>
          </a:p>
        </p:txBody>
      </p:sp>
      <p:sp>
        <p:nvSpPr>
          <p:cNvPr id="17" name="Text 14"/>
          <p:cNvSpPr txBox="1"/>
          <p:nvPr/>
        </p:nvSpPr>
        <p:spPr>
          <a:xfrm>
            <a:off x="7818120" y="4489704"/>
            <a:ext cx="3383280" cy="228600"/>
          </a:xfrm>
          <a:prstGeom prst="rect">
            <a:avLst/>
          </a:prstGeom>
          <a:noFill/>
          <a:ln/>
        </p:spPr>
        <p:txBody>
          <a:bodyPr wrap="square" lIns="0" tIns="0" rIns="0" bIns="0" rtlCol="0" anchor="ctr"/>
          <a:lstStyle/>
          <a:p>
            <a:pPr indent="0" marL="0">
              <a:buNone/>
            </a:pPr>
            <a:r>
              <a:rPr lang="en-US" sz="1000" b="1" spc="50" kern="0" dirty="0">
                <a:solidFill>
                  <a:srgbClr val="AEB9D4"/>
                </a:solidFill>
                <a:latin typeface="Calibri" pitchFamily="34" charset="0"/>
                <a:ea typeface="Calibri" pitchFamily="34" charset="-122"/>
                <a:cs typeface="Calibri" pitchFamily="34" charset="-120"/>
              </a:rPr>
              <a:t>ANNÉE</a:t>
            </a:r>
            <a:endParaRPr lang="en-US" sz="1000" dirty="0"/>
          </a:p>
        </p:txBody>
      </p:sp>
      <p:sp>
        <p:nvSpPr>
          <p:cNvPr id="18" name="Text 15"/>
          <p:cNvSpPr txBox="1"/>
          <p:nvPr/>
        </p:nvSpPr>
        <p:spPr>
          <a:xfrm>
            <a:off x="7818120" y="4709160"/>
            <a:ext cx="338328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1ère année (2025-2026)</a:t>
            </a:r>
            <a:endParaRPr lang="en-US" sz="1350" dirty="0"/>
          </a:p>
        </p:txBody>
      </p:sp>
      <p:sp>
        <p:nvSpPr>
          <p:cNvPr id="19" name="Text 16"/>
          <p:cNvSpPr txBox="1"/>
          <p:nvPr/>
        </p:nvSpPr>
        <p:spPr>
          <a:xfrm>
            <a:off x="7818120" y="5148072"/>
            <a:ext cx="3383280" cy="228600"/>
          </a:xfrm>
          <a:prstGeom prst="rect">
            <a:avLst/>
          </a:prstGeom>
          <a:noFill/>
          <a:ln/>
        </p:spPr>
        <p:txBody>
          <a:bodyPr wrap="square" lIns="0" tIns="0" rIns="0" bIns="0" rtlCol="0" anchor="ctr"/>
          <a:lstStyle/>
          <a:p>
            <a:pPr indent="0" marL="0">
              <a:buNone/>
            </a:pPr>
            <a:r>
              <a:rPr lang="en-US" sz="1000" b="1" spc="50" kern="0" dirty="0">
                <a:solidFill>
                  <a:srgbClr val="AEB9D4"/>
                </a:solidFill>
                <a:latin typeface="Calibri" pitchFamily="34" charset="0"/>
                <a:ea typeface="Calibri" pitchFamily="34" charset="-122"/>
                <a:cs typeface="Calibri" pitchFamily="34" charset="-120"/>
              </a:rPr>
              <a:t>VOLUME HORAIRE</a:t>
            </a:r>
            <a:endParaRPr lang="en-US" sz="1000" dirty="0"/>
          </a:p>
        </p:txBody>
      </p:sp>
      <p:sp>
        <p:nvSpPr>
          <p:cNvPr id="20" name="Text 17"/>
          <p:cNvSpPr txBox="1"/>
          <p:nvPr/>
        </p:nvSpPr>
        <p:spPr>
          <a:xfrm>
            <a:off x="7818120" y="5367528"/>
            <a:ext cx="3383280" cy="3657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757 heures</a:t>
            </a:r>
            <a:endParaRPr lang="en-US" sz="1350" dirty="0"/>
          </a:p>
        </p:txBody>
      </p:sp>
      <p:sp>
        <p:nvSpPr>
          <p:cNvPr id="21" name="Text 18"/>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Portfolio — 1ère année IPSSI</a:t>
            </a:r>
            <a:endParaRPr lang="en-US" sz="1000" dirty="0"/>
          </a:p>
        </p:txBody>
      </p:sp>
      <p:sp>
        <p:nvSpPr>
          <p:cNvPr id="22" name="Text 19"/>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200" b="1" spc="100" kern="0" dirty="0">
                <a:solidFill>
                  <a:srgbClr val="2F63E0"/>
                </a:solidFill>
                <a:latin typeface="Calibri" pitchFamily="34" charset="0"/>
                <a:ea typeface="Calibri" pitchFamily="34" charset="-122"/>
                <a:cs typeface="Calibri" pitchFamily="34" charset="-120"/>
              </a:rPr>
              <a:t>FORMATION</a:t>
            </a:r>
            <a:endParaRPr lang="en-US" sz="1200" dirty="0"/>
          </a:p>
        </p:txBody>
      </p:sp>
      <p:sp>
        <p:nvSpPr>
          <p:cNvPr id="3" name="Text 1"/>
          <p:cNvSpPr txBox="1"/>
          <p:nvPr/>
        </p:nvSpPr>
        <p:spPr>
          <a:xfrm>
            <a:off x="640080" y="749808"/>
            <a:ext cx="10789920" cy="731520"/>
          </a:xfrm>
          <a:prstGeom prst="rect">
            <a:avLst/>
          </a:prstGeom>
          <a:noFill/>
          <a:ln/>
        </p:spPr>
        <p:txBody>
          <a:bodyPr wrap="square" lIns="0" tIns="0" rIns="0" bIns="0" rtlCol="0" anchor="ctr"/>
          <a:lstStyle/>
          <a:p>
            <a:pPr indent="0" marL="0">
              <a:buNone/>
            </a:pPr>
            <a:r>
              <a:rPr lang="en-US" sz="2800" b="1" dirty="0">
                <a:solidFill>
                  <a:srgbClr val="16223D"/>
                </a:solidFill>
                <a:latin typeface="Cambria" pitchFamily="34" charset="0"/>
                <a:ea typeface="Cambria" pitchFamily="34" charset="-122"/>
                <a:cs typeface="Cambria" pitchFamily="34" charset="-120"/>
              </a:rPr>
              <a:t>5 unités d'enseignement — 757 heures</a:t>
            </a:r>
            <a:endParaRPr lang="en-US" sz="2800" dirty="0"/>
          </a:p>
        </p:txBody>
      </p:sp>
      <p:sp>
        <p:nvSpPr>
          <p:cNvPr id="4" name="Shape 2"/>
          <p:cNvSpPr/>
          <p:nvPr/>
        </p:nvSpPr>
        <p:spPr>
          <a:xfrm>
            <a:off x="640080" y="1783080"/>
            <a:ext cx="10881360" cy="713232"/>
          </a:xfrm>
          <a:prstGeom prst="roundRect">
            <a:avLst>
              <a:gd name="adj" fmla="val 7692"/>
            </a:avLst>
          </a:prstGeom>
          <a:solidFill>
            <a:srgbClr val="F5F7FB"/>
          </a:solidFill>
          <a:ln w="12700">
            <a:solidFill>
              <a:srgbClr val="E3E8F3"/>
            </a:solidFill>
            <a:prstDash val="solid"/>
          </a:ln>
        </p:spPr>
      </p:sp>
      <p:sp>
        <p:nvSpPr>
          <p:cNvPr id="5" name="Shape 3"/>
          <p:cNvSpPr/>
          <p:nvPr/>
        </p:nvSpPr>
        <p:spPr>
          <a:xfrm>
            <a:off x="640080" y="1783080"/>
            <a:ext cx="822960" cy="713232"/>
          </a:xfrm>
          <a:prstGeom prst="roundRect">
            <a:avLst>
              <a:gd name="adj" fmla="val 7692"/>
            </a:avLst>
          </a:prstGeom>
          <a:solidFill>
            <a:srgbClr val="0F1B3D"/>
          </a:solidFill>
          <a:ln/>
        </p:spPr>
      </p:sp>
      <p:sp>
        <p:nvSpPr>
          <p:cNvPr id="6" name="Text 4"/>
          <p:cNvSpPr txBox="1"/>
          <p:nvPr/>
        </p:nvSpPr>
        <p:spPr>
          <a:xfrm>
            <a:off x="640080" y="1783080"/>
            <a:ext cx="822960"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UE1</a:t>
            </a:r>
            <a:endParaRPr lang="en-US" sz="1500" dirty="0"/>
          </a:p>
        </p:txBody>
      </p:sp>
      <p:sp>
        <p:nvSpPr>
          <p:cNvPr id="7" name="Text 5"/>
          <p:cNvSpPr txBox="1"/>
          <p:nvPr/>
        </p:nvSpPr>
        <p:spPr>
          <a:xfrm>
            <a:off x="1691640" y="1856232"/>
            <a:ext cx="3291840" cy="320040"/>
          </a:xfrm>
          <a:prstGeom prst="rect">
            <a:avLst/>
          </a:prstGeom>
          <a:noFill/>
          <a:ln/>
        </p:spPr>
        <p:txBody>
          <a:bodyPr wrap="square" lIns="0" tIns="0" rIns="0" bIns="0" rtlCol="0" anchor="ctr"/>
          <a:lstStyle/>
          <a:p>
            <a:pPr indent="0" marL="0">
              <a:buNone/>
            </a:pPr>
            <a:r>
              <a:rPr lang="en-US" sz="1400" b="1" dirty="0">
                <a:solidFill>
                  <a:srgbClr val="16223D"/>
                </a:solidFill>
                <a:latin typeface="Cambria" pitchFamily="34" charset="0"/>
                <a:ea typeface="Cambria" pitchFamily="34" charset="-122"/>
                <a:cs typeface="Cambria" pitchFamily="34" charset="-120"/>
              </a:rPr>
              <a:t>Développement Fullstack</a:t>
            </a:r>
            <a:endParaRPr lang="en-US" sz="1400" dirty="0"/>
          </a:p>
        </p:txBody>
      </p:sp>
      <p:sp>
        <p:nvSpPr>
          <p:cNvPr id="8" name="Text 6"/>
          <p:cNvSpPr txBox="1"/>
          <p:nvPr/>
        </p:nvSpPr>
        <p:spPr>
          <a:xfrm>
            <a:off x="1691640" y="2148840"/>
            <a:ext cx="3291840" cy="274320"/>
          </a:xfrm>
          <a:prstGeom prst="rect">
            <a:avLst/>
          </a:prstGeom>
          <a:noFill/>
          <a:ln/>
        </p:spPr>
        <p:txBody>
          <a:bodyPr wrap="square" lIns="0" tIns="0" rIns="0" bIns="0" rtlCol="0" anchor="ctr"/>
          <a:lstStyle/>
          <a:p>
            <a:pPr indent="0" marL="0">
              <a:buNone/>
            </a:pPr>
            <a:r>
              <a:rPr lang="en-US" sz="1100" dirty="0">
                <a:solidFill>
                  <a:srgbClr val="2F63E0"/>
                </a:solidFill>
                <a:latin typeface="Calibri" pitchFamily="34" charset="0"/>
                <a:ea typeface="Calibri" pitchFamily="34" charset="-122"/>
                <a:cs typeface="Calibri" pitchFamily="34" charset="-120"/>
              </a:rPr>
              <a:t>209,5 h</a:t>
            </a:r>
            <a:endParaRPr lang="en-US" sz="1100" dirty="0"/>
          </a:p>
        </p:txBody>
      </p:sp>
      <p:sp>
        <p:nvSpPr>
          <p:cNvPr id="9" name="Text 7"/>
          <p:cNvSpPr txBox="1"/>
          <p:nvPr/>
        </p:nvSpPr>
        <p:spPr>
          <a:xfrm>
            <a:off x="5074920" y="1783080"/>
            <a:ext cx="6309360" cy="713232"/>
          </a:xfrm>
          <a:prstGeom prst="rect">
            <a:avLst/>
          </a:prstGeom>
          <a:noFill/>
          <a:ln/>
        </p:spPr>
        <p:txBody>
          <a:bodyPr wrap="square" lIns="0" tIns="0" rIns="0" bIns="0" rtlCol="0" anchor="ctr"/>
          <a:lstStyle/>
          <a:p>
            <a:pPr indent="0" marL="0">
              <a:lnSpc>
                <a:spcPct val="110000"/>
              </a:lnSpc>
              <a:buNone/>
            </a:pPr>
            <a:r>
              <a:rPr lang="en-US" sz="1100" dirty="0">
                <a:solidFill>
                  <a:srgbClr val="5B6472"/>
                </a:solidFill>
                <a:latin typeface="Calibri" pitchFamily="34" charset="0"/>
                <a:ea typeface="Calibri" pitchFamily="34" charset="-122"/>
                <a:cs typeface="Calibri" pitchFamily="34" charset="-120"/>
              </a:rPr>
              <a:t>HTML/CSS, JavaScript, PHP, Python, C, Git, bases de données</a:t>
            </a:r>
            <a:endParaRPr lang="en-US" sz="1100" dirty="0"/>
          </a:p>
        </p:txBody>
      </p:sp>
      <p:sp>
        <p:nvSpPr>
          <p:cNvPr id="10" name="Shape 8"/>
          <p:cNvSpPr/>
          <p:nvPr/>
        </p:nvSpPr>
        <p:spPr>
          <a:xfrm>
            <a:off x="640080" y="2624328"/>
            <a:ext cx="10881360" cy="713232"/>
          </a:xfrm>
          <a:prstGeom prst="roundRect">
            <a:avLst>
              <a:gd name="adj" fmla="val 7692"/>
            </a:avLst>
          </a:prstGeom>
          <a:solidFill>
            <a:srgbClr val="F5F7FB"/>
          </a:solidFill>
          <a:ln w="12700">
            <a:solidFill>
              <a:srgbClr val="E3E8F3"/>
            </a:solidFill>
            <a:prstDash val="solid"/>
          </a:ln>
        </p:spPr>
      </p:sp>
      <p:sp>
        <p:nvSpPr>
          <p:cNvPr id="11" name="Shape 9"/>
          <p:cNvSpPr/>
          <p:nvPr/>
        </p:nvSpPr>
        <p:spPr>
          <a:xfrm>
            <a:off x="640080" y="2624328"/>
            <a:ext cx="822960" cy="713232"/>
          </a:xfrm>
          <a:prstGeom prst="roundRect">
            <a:avLst>
              <a:gd name="adj" fmla="val 7692"/>
            </a:avLst>
          </a:prstGeom>
          <a:solidFill>
            <a:srgbClr val="0F1B3D"/>
          </a:solidFill>
          <a:ln/>
        </p:spPr>
      </p:sp>
      <p:sp>
        <p:nvSpPr>
          <p:cNvPr id="12" name="Text 10"/>
          <p:cNvSpPr txBox="1"/>
          <p:nvPr/>
        </p:nvSpPr>
        <p:spPr>
          <a:xfrm>
            <a:off x="640080" y="2624328"/>
            <a:ext cx="822960"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UE2</a:t>
            </a:r>
            <a:endParaRPr lang="en-US" sz="1500" dirty="0"/>
          </a:p>
        </p:txBody>
      </p:sp>
      <p:sp>
        <p:nvSpPr>
          <p:cNvPr id="13" name="Text 11"/>
          <p:cNvSpPr txBox="1"/>
          <p:nvPr/>
        </p:nvSpPr>
        <p:spPr>
          <a:xfrm>
            <a:off x="1691640" y="2697480"/>
            <a:ext cx="3291840" cy="320040"/>
          </a:xfrm>
          <a:prstGeom prst="rect">
            <a:avLst/>
          </a:prstGeom>
          <a:noFill/>
          <a:ln/>
        </p:spPr>
        <p:txBody>
          <a:bodyPr wrap="square" lIns="0" tIns="0" rIns="0" bIns="0" rtlCol="0" anchor="ctr"/>
          <a:lstStyle/>
          <a:p>
            <a:pPr indent="0" marL="0">
              <a:buNone/>
            </a:pPr>
            <a:r>
              <a:rPr lang="en-US" sz="1400" b="1" dirty="0">
                <a:solidFill>
                  <a:srgbClr val="16223D"/>
                </a:solidFill>
                <a:latin typeface="Cambria" pitchFamily="34" charset="0"/>
                <a:ea typeface="Cambria" pitchFamily="34" charset="-122"/>
                <a:cs typeface="Cambria" pitchFamily="34" charset="-120"/>
              </a:rPr>
              <a:t>Systèmes, Réseaux et Cloud</a:t>
            </a:r>
            <a:endParaRPr lang="en-US" sz="1400" dirty="0"/>
          </a:p>
        </p:txBody>
      </p:sp>
      <p:sp>
        <p:nvSpPr>
          <p:cNvPr id="14" name="Text 12"/>
          <p:cNvSpPr txBox="1"/>
          <p:nvPr/>
        </p:nvSpPr>
        <p:spPr>
          <a:xfrm>
            <a:off x="1691640" y="2990088"/>
            <a:ext cx="3291840" cy="274320"/>
          </a:xfrm>
          <a:prstGeom prst="rect">
            <a:avLst/>
          </a:prstGeom>
          <a:noFill/>
          <a:ln/>
        </p:spPr>
        <p:txBody>
          <a:bodyPr wrap="square" lIns="0" tIns="0" rIns="0" bIns="0" rtlCol="0" anchor="ctr"/>
          <a:lstStyle/>
          <a:p>
            <a:pPr indent="0" marL="0">
              <a:buNone/>
            </a:pPr>
            <a:r>
              <a:rPr lang="en-US" sz="1100" dirty="0">
                <a:solidFill>
                  <a:srgbClr val="2F63E0"/>
                </a:solidFill>
                <a:latin typeface="Calibri" pitchFamily="34" charset="0"/>
                <a:ea typeface="Calibri" pitchFamily="34" charset="-122"/>
                <a:cs typeface="Calibri" pitchFamily="34" charset="-120"/>
              </a:rPr>
              <a:t>219,5 h</a:t>
            </a:r>
            <a:endParaRPr lang="en-US" sz="1100" dirty="0"/>
          </a:p>
        </p:txBody>
      </p:sp>
      <p:sp>
        <p:nvSpPr>
          <p:cNvPr id="15" name="Text 13"/>
          <p:cNvSpPr txBox="1"/>
          <p:nvPr/>
        </p:nvSpPr>
        <p:spPr>
          <a:xfrm>
            <a:off x="5074920" y="2624328"/>
            <a:ext cx="6309360" cy="713232"/>
          </a:xfrm>
          <a:prstGeom prst="rect">
            <a:avLst/>
          </a:prstGeom>
          <a:noFill/>
          <a:ln/>
        </p:spPr>
        <p:txBody>
          <a:bodyPr wrap="square" lIns="0" tIns="0" rIns="0" bIns="0" rtlCol="0" anchor="ctr"/>
          <a:lstStyle/>
          <a:p>
            <a:pPr indent="0" marL="0">
              <a:lnSpc>
                <a:spcPct val="110000"/>
              </a:lnSpc>
              <a:buNone/>
            </a:pPr>
            <a:r>
              <a:rPr lang="en-US" sz="1100" dirty="0">
                <a:solidFill>
                  <a:srgbClr val="5B6472"/>
                </a:solidFill>
                <a:latin typeface="Calibri" pitchFamily="34" charset="0"/>
                <a:ea typeface="Calibri" pitchFamily="34" charset="-122"/>
                <a:cs typeface="Calibri" pitchFamily="34" charset="-120"/>
              </a:rPr>
              <a:t>Réseaux, Cisco CCNA 1 &amp; 2, virtualisation, Windows Server, Linux</a:t>
            </a:r>
            <a:endParaRPr lang="en-US" sz="1100" dirty="0"/>
          </a:p>
        </p:txBody>
      </p:sp>
      <p:sp>
        <p:nvSpPr>
          <p:cNvPr id="16" name="Shape 14"/>
          <p:cNvSpPr/>
          <p:nvPr/>
        </p:nvSpPr>
        <p:spPr>
          <a:xfrm>
            <a:off x="640080" y="3465576"/>
            <a:ext cx="10881360" cy="713232"/>
          </a:xfrm>
          <a:prstGeom prst="roundRect">
            <a:avLst>
              <a:gd name="adj" fmla="val 7692"/>
            </a:avLst>
          </a:prstGeom>
          <a:solidFill>
            <a:srgbClr val="F5F7FB"/>
          </a:solidFill>
          <a:ln w="12700">
            <a:solidFill>
              <a:srgbClr val="E3E8F3"/>
            </a:solidFill>
            <a:prstDash val="solid"/>
          </a:ln>
        </p:spPr>
      </p:sp>
      <p:sp>
        <p:nvSpPr>
          <p:cNvPr id="17" name="Shape 15"/>
          <p:cNvSpPr/>
          <p:nvPr/>
        </p:nvSpPr>
        <p:spPr>
          <a:xfrm>
            <a:off x="640080" y="3465576"/>
            <a:ext cx="822960" cy="713232"/>
          </a:xfrm>
          <a:prstGeom prst="roundRect">
            <a:avLst>
              <a:gd name="adj" fmla="val 7692"/>
            </a:avLst>
          </a:prstGeom>
          <a:solidFill>
            <a:srgbClr val="0F1B3D"/>
          </a:solidFill>
          <a:ln/>
        </p:spPr>
      </p:sp>
      <p:sp>
        <p:nvSpPr>
          <p:cNvPr id="18" name="Text 16"/>
          <p:cNvSpPr txBox="1"/>
          <p:nvPr/>
        </p:nvSpPr>
        <p:spPr>
          <a:xfrm>
            <a:off x="640080" y="3465576"/>
            <a:ext cx="822960"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UE3</a:t>
            </a:r>
            <a:endParaRPr lang="en-US" sz="1500" dirty="0"/>
          </a:p>
        </p:txBody>
      </p:sp>
      <p:sp>
        <p:nvSpPr>
          <p:cNvPr id="19" name="Text 17"/>
          <p:cNvSpPr txBox="1"/>
          <p:nvPr/>
        </p:nvSpPr>
        <p:spPr>
          <a:xfrm>
            <a:off x="1691640" y="3538728"/>
            <a:ext cx="3291840" cy="320040"/>
          </a:xfrm>
          <a:prstGeom prst="rect">
            <a:avLst/>
          </a:prstGeom>
          <a:noFill/>
          <a:ln/>
        </p:spPr>
        <p:txBody>
          <a:bodyPr wrap="square" lIns="0" tIns="0" rIns="0" bIns="0" rtlCol="0" anchor="ctr"/>
          <a:lstStyle/>
          <a:p>
            <a:pPr indent="0" marL="0">
              <a:buNone/>
            </a:pPr>
            <a:r>
              <a:rPr lang="en-US" sz="1400" b="1" dirty="0">
                <a:solidFill>
                  <a:srgbClr val="16223D"/>
                </a:solidFill>
                <a:latin typeface="Cambria" pitchFamily="34" charset="0"/>
                <a:ea typeface="Cambria" pitchFamily="34" charset="-122"/>
                <a:cs typeface="Cambria" pitchFamily="34" charset="-120"/>
              </a:rPr>
              <a:t>Unity</a:t>
            </a:r>
            <a:endParaRPr lang="en-US" sz="1400" dirty="0"/>
          </a:p>
        </p:txBody>
      </p:sp>
      <p:sp>
        <p:nvSpPr>
          <p:cNvPr id="20" name="Text 18"/>
          <p:cNvSpPr txBox="1"/>
          <p:nvPr/>
        </p:nvSpPr>
        <p:spPr>
          <a:xfrm>
            <a:off x="1691640" y="3831336"/>
            <a:ext cx="3291840" cy="274320"/>
          </a:xfrm>
          <a:prstGeom prst="rect">
            <a:avLst/>
          </a:prstGeom>
          <a:noFill/>
          <a:ln/>
        </p:spPr>
        <p:txBody>
          <a:bodyPr wrap="square" lIns="0" tIns="0" rIns="0" bIns="0" rtlCol="0" anchor="ctr"/>
          <a:lstStyle/>
          <a:p>
            <a:pPr indent="0" marL="0">
              <a:buNone/>
            </a:pPr>
            <a:r>
              <a:rPr lang="en-US" sz="1100" dirty="0">
                <a:solidFill>
                  <a:srgbClr val="2F63E0"/>
                </a:solidFill>
                <a:latin typeface="Calibri" pitchFamily="34" charset="0"/>
                <a:ea typeface="Calibri" pitchFamily="34" charset="-122"/>
                <a:cs typeface="Calibri" pitchFamily="34" charset="-120"/>
              </a:rPr>
              <a:t>81 h</a:t>
            </a:r>
            <a:endParaRPr lang="en-US" sz="1100" dirty="0"/>
          </a:p>
        </p:txBody>
      </p:sp>
      <p:sp>
        <p:nvSpPr>
          <p:cNvPr id="21" name="Text 19"/>
          <p:cNvSpPr txBox="1"/>
          <p:nvPr/>
        </p:nvSpPr>
        <p:spPr>
          <a:xfrm>
            <a:off x="5074920" y="3465576"/>
            <a:ext cx="6309360" cy="713232"/>
          </a:xfrm>
          <a:prstGeom prst="rect">
            <a:avLst/>
          </a:prstGeom>
          <a:noFill/>
          <a:ln/>
        </p:spPr>
        <p:txBody>
          <a:bodyPr wrap="square" lIns="0" tIns="0" rIns="0" bIns="0" rtlCol="0" anchor="ctr"/>
          <a:lstStyle/>
          <a:p>
            <a:pPr indent="0" marL="0">
              <a:lnSpc>
                <a:spcPct val="110000"/>
              </a:lnSpc>
              <a:buNone/>
            </a:pPr>
            <a:r>
              <a:rPr lang="en-US" sz="1100" dirty="0">
                <a:solidFill>
                  <a:srgbClr val="5B6472"/>
                </a:solidFill>
                <a:latin typeface="Calibri" pitchFamily="34" charset="0"/>
                <a:ea typeface="Calibri" pitchFamily="34" charset="-122"/>
                <a:cs typeface="Calibri" pitchFamily="34" charset="-120"/>
              </a:rPr>
              <a:t>Développement de jeux vidéo avec Unity</a:t>
            </a:r>
            <a:endParaRPr lang="en-US" sz="1100" dirty="0"/>
          </a:p>
        </p:txBody>
      </p:sp>
      <p:sp>
        <p:nvSpPr>
          <p:cNvPr id="22" name="Shape 20"/>
          <p:cNvSpPr/>
          <p:nvPr/>
        </p:nvSpPr>
        <p:spPr>
          <a:xfrm>
            <a:off x="640080" y="4306824"/>
            <a:ext cx="10881360" cy="713232"/>
          </a:xfrm>
          <a:prstGeom prst="roundRect">
            <a:avLst>
              <a:gd name="adj" fmla="val 7692"/>
            </a:avLst>
          </a:prstGeom>
          <a:solidFill>
            <a:srgbClr val="F5F7FB"/>
          </a:solidFill>
          <a:ln w="12700">
            <a:solidFill>
              <a:srgbClr val="E3E8F3"/>
            </a:solidFill>
            <a:prstDash val="solid"/>
          </a:ln>
        </p:spPr>
      </p:sp>
      <p:sp>
        <p:nvSpPr>
          <p:cNvPr id="23" name="Shape 21"/>
          <p:cNvSpPr/>
          <p:nvPr/>
        </p:nvSpPr>
        <p:spPr>
          <a:xfrm>
            <a:off x="640080" y="4306824"/>
            <a:ext cx="822960" cy="713232"/>
          </a:xfrm>
          <a:prstGeom prst="roundRect">
            <a:avLst>
              <a:gd name="adj" fmla="val 7692"/>
            </a:avLst>
          </a:prstGeom>
          <a:solidFill>
            <a:srgbClr val="0F1B3D"/>
          </a:solidFill>
          <a:ln/>
        </p:spPr>
      </p:sp>
      <p:sp>
        <p:nvSpPr>
          <p:cNvPr id="24" name="Text 22"/>
          <p:cNvSpPr txBox="1"/>
          <p:nvPr/>
        </p:nvSpPr>
        <p:spPr>
          <a:xfrm>
            <a:off x="640080" y="4306824"/>
            <a:ext cx="822960"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UE4</a:t>
            </a:r>
            <a:endParaRPr lang="en-US" sz="1500" dirty="0"/>
          </a:p>
        </p:txBody>
      </p:sp>
      <p:sp>
        <p:nvSpPr>
          <p:cNvPr id="25" name="Text 23"/>
          <p:cNvSpPr txBox="1"/>
          <p:nvPr/>
        </p:nvSpPr>
        <p:spPr>
          <a:xfrm>
            <a:off x="1691640" y="4379976"/>
            <a:ext cx="3291840" cy="320040"/>
          </a:xfrm>
          <a:prstGeom prst="rect">
            <a:avLst/>
          </a:prstGeom>
          <a:noFill/>
          <a:ln/>
        </p:spPr>
        <p:txBody>
          <a:bodyPr wrap="square" lIns="0" tIns="0" rIns="0" bIns="0" rtlCol="0" anchor="ctr"/>
          <a:lstStyle/>
          <a:p>
            <a:pPr indent="0" marL="0">
              <a:buNone/>
            </a:pPr>
            <a:r>
              <a:rPr lang="en-US" sz="1400" b="1" dirty="0">
                <a:solidFill>
                  <a:srgbClr val="16223D"/>
                </a:solidFill>
                <a:latin typeface="Cambria" pitchFamily="34" charset="0"/>
                <a:ea typeface="Cambria" pitchFamily="34" charset="-122"/>
                <a:cs typeface="Cambria" pitchFamily="34" charset="-120"/>
              </a:rPr>
              <a:t>Sécurité des systèmes d'information</a:t>
            </a:r>
            <a:endParaRPr lang="en-US" sz="1400" dirty="0"/>
          </a:p>
        </p:txBody>
      </p:sp>
      <p:sp>
        <p:nvSpPr>
          <p:cNvPr id="26" name="Text 24"/>
          <p:cNvSpPr txBox="1"/>
          <p:nvPr/>
        </p:nvSpPr>
        <p:spPr>
          <a:xfrm>
            <a:off x="1691640" y="4672584"/>
            <a:ext cx="3291840" cy="274320"/>
          </a:xfrm>
          <a:prstGeom prst="rect">
            <a:avLst/>
          </a:prstGeom>
          <a:noFill/>
          <a:ln/>
        </p:spPr>
        <p:txBody>
          <a:bodyPr wrap="square" lIns="0" tIns="0" rIns="0" bIns="0" rtlCol="0" anchor="ctr"/>
          <a:lstStyle/>
          <a:p>
            <a:pPr indent="0" marL="0">
              <a:buNone/>
            </a:pPr>
            <a:r>
              <a:rPr lang="en-US" sz="1100" dirty="0">
                <a:solidFill>
                  <a:srgbClr val="2F63E0"/>
                </a:solidFill>
                <a:latin typeface="Calibri" pitchFamily="34" charset="0"/>
                <a:ea typeface="Calibri" pitchFamily="34" charset="-122"/>
                <a:cs typeface="Calibri" pitchFamily="34" charset="-120"/>
              </a:rPr>
              <a:t>119,5 h</a:t>
            </a:r>
            <a:endParaRPr lang="en-US" sz="1100" dirty="0"/>
          </a:p>
        </p:txBody>
      </p:sp>
      <p:sp>
        <p:nvSpPr>
          <p:cNvPr id="27" name="Text 25"/>
          <p:cNvSpPr txBox="1"/>
          <p:nvPr/>
        </p:nvSpPr>
        <p:spPr>
          <a:xfrm>
            <a:off x="5074920" y="4306824"/>
            <a:ext cx="6309360" cy="713232"/>
          </a:xfrm>
          <a:prstGeom prst="rect">
            <a:avLst/>
          </a:prstGeom>
          <a:noFill/>
          <a:ln/>
        </p:spPr>
        <p:txBody>
          <a:bodyPr wrap="square" lIns="0" tIns="0" rIns="0" bIns="0" rtlCol="0" anchor="ctr"/>
          <a:lstStyle/>
          <a:p>
            <a:pPr indent="0" marL="0">
              <a:lnSpc>
                <a:spcPct val="110000"/>
              </a:lnSpc>
              <a:buNone/>
            </a:pPr>
            <a:r>
              <a:rPr lang="en-US" sz="1100" dirty="0">
                <a:solidFill>
                  <a:srgbClr val="5B6472"/>
                </a:solidFill>
                <a:latin typeface="Calibri" pitchFamily="34" charset="0"/>
                <a:ea typeface="Calibri" pitchFamily="34" charset="-122"/>
                <a:cs typeface="Calibri" pitchFamily="34" charset="-120"/>
              </a:rPr>
              <a:t>Cryptographie, durcissement des SI, RGPD et droit informatique</a:t>
            </a:r>
            <a:endParaRPr lang="en-US" sz="1100" dirty="0"/>
          </a:p>
        </p:txBody>
      </p:sp>
      <p:sp>
        <p:nvSpPr>
          <p:cNvPr id="28" name="Shape 26"/>
          <p:cNvSpPr/>
          <p:nvPr/>
        </p:nvSpPr>
        <p:spPr>
          <a:xfrm>
            <a:off x="640080" y="5148072"/>
            <a:ext cx="10881360" cy="713232"/>
          </a:xfrm>
          <a:prstGeom prst="roundRect">
            <a:avLst>
              <a:gd name="adj" fmla="val 7692"/>
            </a:avLst>
          </a:prstGeom>
          <a:solidFill>
            <a:srgbClr val="F5F7FB"/>
          </a:solidFill>
          <a:ln w="12700">
            <a:solidFill>
              <a:srgbClr val="E3E8F3"/>
            </a:solidFill>
            <a:prstDash val="solid"/>
          </a:ln>
        </p:spPr>
      </p:sp>
      <p:sp>
        <p:nvSpPr>
          <p:cNvPr id="29" name="Shape 27"/>
          <p:cNvSpPr/>
          <p:nvPr/>
        </p:nvSpPr>
        <p:spPr>
          <a:xfrm>
            <a:off x="640080" y="5148072"/>
            <a:ext cx="822960" cy="713232"/>
          </a:xfrm>
          <a:prstGeom prst="roundRect">
            <a:avLst>
              <a:gd name="adj" fmla="val 7692"/>
            </a:avLst>
          </a:prstGeom>
          <a:solidFill>
            <a:srgbClr val="0F1B3D"/>
          </a:solidFill>
          <a:ln/>
        </p:spPr>
      </p:sp>
      <p:sp>
        <p:nvSpPr>
          <p:cNvPr id="30" name="Text 28"/>
          <p:cNvSpPr txBox="1"/>
          <p:nvPr/>
        </p:nvSpPr>
        <p:spPr>
          <a:xfrm>
            <a:off x="640080" y="5148072"/>
            <a:ext cx="822960"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UE5</a:t>
            </a:r>
            <a:endParaRPr lang="en-US" sz="1500" dirty="0"/>
          </a:p>
        </p:txBody>
      </p:sp>
      <p:sp>
        <p:nvSpPr>
          <p:cNvPr id="31" name="Text 29"/>
          <p:cNvSpPr txBox="1"/>
          <p:nvPr/>
        </p:nvSpPr>
        <p:spPr>
          <a:xfrm>
            <a:off x="1691640" y="5221224"/>
            <a:ext cx="3291840" cy="320040"/>
          </a:xfrm>
          <a:prstGeom prst="rect">
            <a:avLst/>
          </a:prstGeom>
          <a:noFill/>
          <a:ln/>
        </p:spPr>
        <p:txBody>
          <a:bodyPr wrap="square" lIns="0" tIns="0" rIns="0" bIns="0" rtlCol="0" anchor="ctr"/>
          <a:lstStyle/>
          <a:p>
            <a:pPr indent="0" marL="0">
              <a:buNone/>
            </a:pPr>
            <a:r>
              <a:rPr lang="en-US" sz="1400" b="1" dirty="0">
                <a:solidFill>
                  <a:srgbClr val="16223D"/>
                </a:solidFill>
                <a:latin typeface="Cambria" pitchFamily="34" charset="0"/>
                <a:ea typeface="Cambria" pitchFamily="34" charset="-122"/>
                <a:cs typeface="Cambria" pitchFamily="34" charset="-120"/>
              </a:rPr>
              <a:t>Softskills et compétences transverses</a:t>
            </a:r>
            <a:endParaRPr lang="en-US" sz="1400" dirty="0"/>
          </a:p>
        </p:txBody>
      </p:sp>
      <p:sp>
        <p:nvSpPr>
          <p:cNvPr id="32" name="Text 30"/>
          <p:cNvSpPr txBox="1"/>
          <p:nvPr/>
        </p:nvSpPr>
        <p:spPr>
          <a:xfrm>
            <a:off x="1691640" y="5513832"/>
            <a:ext cx="3291840" cy="274320"/>
          </a:xfrm>
          <a:prstGeom prst="rect">
            <a:avLst/>
          </a:prstGeom>
          <a:noFill/>
          <a:ln/>
        </p:spPr>
        <p:txBody>
          <a:bodyPr wrap="square" lIns="0" tIns="0" rIns="0" bIns="0" rtlCol="0" anchor="ctr"/>
          <a:lstStyle/>
          <a:p>
            <a:pPr indent="0" marL="0">
              <a:buNone/>
            </a:pPr>
            <a:r>
              <a:rPr lang="en-US" sz="1100" dirty="0">
                <a:solidFill>
                  <a:srgbClr val="2F63E0"/>
                </a:solidFill>
                <a:latin typeface="Calibri" pitchFamily="34" charset="0"/>
                <a:ea typeface="Calibri" pitchFamily="34" charset="-122"/>
                <a:cs typeface="Calibri" pitchFamily="34" charset="-120"/>
              </a:rPr>
              <a:t>231,75 h</a:t>
            </a:r>
            <a:endParaRPr lang="en-US" sz="1100" dirty="0"/>
          </a:p>
        </p:txBody>
      </p:sp>
      <p:sp>
        <p:nvSpPr>
          <p:cNvPr id="33" name="Text 31"/>
          <p:cNvSpPr txBox="1"/>
          <p:nvPr/>
        </p:nvSpPr>
        <p:spPr>
          <a:xfrm>
            <a:off x="5074920" y="5148072"/>
            <a:ext cx="6309360" cy="713232"/>
          </a:xfrm>
          <a:prstGeom prst="rect">
            <a:avLst/>
          </a:prstGeom>
          <a:noFill/>
          <a:ln/>
        </p:spPr>
        <p:txBody>
          <a:bodyPr wrap="square" lIns="0" tIns="0" rIns="0" bIns="0" rtlCol="0" anchor="ctr"/>
          <a:lstStyle/>
          <a:p>
            <a:pPr indent="0" marL="0">
              <a:lnSpc>
                <a:spcPct val="110000"/>
              </a:lnSpc>
              <a:buNone/>
            </a:pPr>
            <a:r>
              <a:rPr lang="en-US" sz="1100" dirty="0">
                <a:solidFill>
                  <a:srgbClr val="5B6472"/>
                </a:solidFill>
                <a:latin typeface="Calibri" pitchFamily="34" charset="0"/>
                <a:ea typeface="Calibri" pitchFamily="34" charset="-122"/>
                <a:cs typeface="Calibri" pitchFamily="34" charset="-120"/>
              </a:rPr>
              <a:t>Mathématiques, français, anglais, TRE, projet thématique</a:t>
            </a:r>
            <a:endParaRPr lang="en-US" sz="1100" dirty="0"/>
          </a:p>
        </p:txBody>
      </p:sp>
      <p:sp>
        <p:nvSpPr>
          <p:cNvPr id="34" name="Text 3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Portfolio — 1ère année IPSSI</a:t>
            </a:r>
            <a:endParaRPr lang="en-US" sz="1000" dirty="0"/>
          </a:p>
        </p:txBody>
      </p:sp>
      <p:sp>
        <p:nvSpPr>
          <p:cNvPr id="35" name="Text 33"/>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200" b="1" spc="100" kern="0" dirty="0">
                <a:solidFill>
                  <a:srgbClr val="2F63E0"/>
                </a:solidFill>
                <a:latin typeface="Calibri" pitchFamily="34" charset="0"/>
                <a:ea typeface="Calibri" pitchFamily="34" charset="-122"/>
                <a:cs typeface="Calibri" pitchFamily="34" charset="-120"/>
              </a:rPr>
              <a:t>COMPÉTENCES</a:t>
            </a:r>
            <a:endParaRPr lang="en-US" sz="1200" dirty="0"/>
          </a:p>
        </p:txBody>
      </p:sp>
      <p:sp>
        <p:nvSpPr>
          <p:cNvPr id="3" name="Text 1"/>
          <p:cNvSpPr txBox="1"/>
          <p:nvPr/>
        </p:nvSpPr>
        <p:spPr>
          <a:xfrm>
            <a:off x="640080" y="749808"/>
            <a:ext cx="10789920" cy="731520"/>
          </a:xfrm>
          <a:prstGeom prst="rect">
            <a:avLst/>
          </a:prstGeom>
          <a:noFill/>
          <a:ln/>
        </p:spPr>
        <p:txBody>
          <a:bodyPr wrap="square" lIns="0" tIns="0" rIns="0" bIns="0" rtlCol="0" anchor="ctr"/>
          <a:lstStyle/>
          <a:p>
            <a:pPr indent="0" marL="0">
              <a:buNone/>
            </a:pPr>
            <a:r>
              <a:rPr lang="en-US" sz="2800" b="1" dirty="0">
                <a:solidFill>
                  <a:srgbClr val="16223D"/>
                </a:solidFill>
                <a:latin typeface="Cambria" pitchFamily="34" charset="0"/>
                <a:ea typeface="Cambria" pitchFamily="34" charset="-122"/>
                <a:cs typeface="Cambria" pitchFamily="34" charset="-120"/>
              </a:rPr>
              <a:t>Compétences techniques</a:t>
            </a:r>
            <a:endParaRPr lang="en-US" sz="2800" dirty="0"/>
          </a:p>
        </p:txBody>
      </p:sp>
      <p:sp>
        <p:nvSpPr>
          <p:cNvPr id="4" name="Text 2"/>
          <p:cNvSpPr txBox="1"/>
          <p:nvPr/>
        </p:nvSpPr>
        <p:spPr>
          <a:xfrm>
            <a:off x="640080" y="1828800"/>
            <a:ext cx="3383280" cy="274320"/>
          </a:xfrm>
          <a:prstGeom prst="rect">
            <a:avLst/>
          </a:prstGeom>
          <a:noFill/>
          <a:ln/>
        </p:spPr>
        <p:txBody>
          <a:bodyPr wrap="square" lIns="0" tIns="0" rIns="0" bIns="0" rtlCol="0" anchor="ctr"/>
          <a:lstStyle/>
          <a:p>
            <a:pPr indent="0" marL="0">
              <a:buNone/>
            </a:pPr>
            <a:r>
              <a:rPr lang="en-US" sz="1200" b="1" spc="100" kern="0" dirty="0">
                <a:solidFill>
                  <a:srgbClr val="2F63E0"/>
                </a:solidFill>
                <a:latin typeface="Calibri" pitchFamily="34" charset="0"/>
                <a:ea typeface="Calibri" pitchFamily="34" charset="-122"/>
                <a:cs typeface="Calibri" pitchFamily="34" charset="-120"/>
              </a:rPr>
              <a:t>LANGAGES</a:t>
            </a:r>
            <a:endParaRPr lang="en-US" sz="1200" dirty="0"/>
          </a:p>
        </p:txBody>
      </p:sp>
      <p:sp>
        <p:nvSpPr>
          <p:cNvPr id="5" name="Shape 3"/>
          <p:cNvSpPr/>
          <p:nvPr/>
        </p:nvSpPr>
        <p:spPr>
          <a:xfrm>
            <a:off x="685800" y="2304288"/>
            <a:ext cx="91440" cy="91440"/>
          </a:xfrm>
          <a:prstGeom prst="ellipse">
            <a:avLst/>
          </a:prstGeom>
          <a:solidFill>
            <a:srgbClr val="2F63E0"/>
          </a:solidFill>
          <a:ln/>
        </p:spPr>
      </p:sp>
      <p:sp>
        <p:nvSpPr>
          <p:cNvPr id="6" name="Text 4"/>
          <p:cNvSpPr txBox="1"/>
          <p:nvPr/>
        </p:nvSpPr>
        <p:spPr>
          <a:xfrm>
            <a:off x="914400" y="2194560"/>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HTML / CSS</a:t>
            </a:r>
            <a:endParaRPr lang="en-US" sz="1300" dirty="0"/>
          </a:p>
        </p:txBody>
      </p:sp>
      <p:sp>
        <p:nvSpPr>
          <p:cNvPr id="7" name="Shape 5"/>
          <p:cNvSpPr/>
          <p:nvPr/>
        </p:nvSpPr>
        <p:spPr>
          <a:xfrm>
            <a:off x="685800" y="2834640"/>
            <a:ext cx="91440" cy="91440"/>
          </a:xfrm>
          <a:prstGeom prst="ellipse">
            <a:avLst/>
          </a:prstGeom>
          <a:solidFill>
            <a:srgbClr val="2F63E0"/>
          </a:solidFill>
          <a:ln/>
        </p:spPr>
      </p:sp>
      <p:sp>
        <p:nvSpPr>
          <p:cNvPr id="8" name="Text 6"/>
          <p:cNvSpPr txBox="1"/>
          <p:nvPr/>
        </p:nvSpPr>
        <p:spPr>
          <a:xfrm>
            <a:off x="914400" y="2724912"/>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JavaScript</a:t>
            </a:r>
            <a:endParaRPr lang="en-US" sz="1300" dirty="0"/>
          </a:p>
        </p:txBody>
      </p:sp>
      <p:sp>
        <p:nvSpPr>
          <p:cNvPr id="9" name="Shape 7"/>
          <p:cNvSpPr/>
          <p:nvPr/>
        </p:nvSpPr>
        <p:spPr>
          <a:xfrm>
            <a:off x="685800" y="3364992"/>
            <a:ext cx="91440" cy="91440"/>
          </a:xfrm>
          <a:prstGeom prst="ellipse">
            <a:avLst/>
          </a:prstGeom>
          <a:solidFill>
            <a:srgbClr val="2F63E0"/>
          </a:solidFill>
          <a:ln/>
        </p:spPr>
      </p:sp>
      <p:sp>
        <p:nvSpPr>
          <p:cNvPr id="10" name="Text 8"/>
          <p:cNvSpPr txBox="1"/>
          <p:nvPr/>
        </p:nvSpPr>
        <p:spPr>
          <a:xfrm>
            <a:off x="914400" y="3255264"/>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PHP</a:t>
            </a:r>
            <a:endParaRPr lang="en-US" sz="1300" dirty="0"/>
          </a:p>
        </p:txBody>
      </p:sp>
      <p:sp>
        <p:nvSpPr>
          <p:cNvPr id="11" name="Shape 9"/>
          <p:cNvSpPr/>
          <p:nvPr/>
        </p:nvSpPr>
        <p:spPr>
          <a:xfrm>
            <a:off x="685800" y="3895344"/>
            <a:ext cx="91440" cy="91440"/>
          </a:xfrm>
          <a:prstGeom prst="ellipse">
            <a:avLst/>
          </a:prstGeom>
          <a:solidFill>
            <a:srgbClr val="2F63E0"/>
          </a:solidFill>
          <a:ln/>
        </p:spPr>
      </p:sp>
      <p:sp>
        <p:nvSpPr>
          <p:cNvPr id="12" name="Text 10"/>
          <p:cNvSpPr txBox="1"/>
          <p:nvPr/>
        </p:nvSpPr>
        <p:spPr>
          <a:xfrm>
            <a:off x="914400" y="3785616"/>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C# (Unity)</a:t>
            </a:r>
            <a:endParaRPr lang="en-US" sz="1300" dirty="0"/>
          </a:p>
        </p:txBody>
      </p:sp>
      <p:sp>
        <p:nvSpPr>
          <p:cNvPr id="13" name="Shape 11"/>
          <p:cNvSpPr/>
          <p:nvPr/>
        </p:nvSpPr>
        <p:spPr>
          <a:xfrm>
            <a:off x="685800" y="4425696"/>
            <a:ext cx="91440" cy="91440"/>
          </a:xfrm>
          <a:prstGeom prst="ellipse">
            <a:avLst/>
          </a:prstGeom>
          <a:solidFill>
            <a:srgbClr val="2F63E0"/>
          </a:solidFill>
          <a:ln/>
        </p:spPr>
      </p:sp>
      <p:sp>
        <p:nvSpPr>
          <p:cNvPr id="14" name="Text 12"/>
          <p:cNvSpPr txBox="1"/>
          <p:nvPr/>
        </p:nvSpPr>
        <p:spPr>
          <a:xfrm>
            <a:off x="914400" y="4315968"/>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Python &amp; C (notions)</a:t>
            </a:r>
            <a:endParaRPr lang="en-US" sz="1300" dirty="0"/>
          </a:p>
        </p:txBody>
      </p:sp>
      <p:sp>
        <p:nvSpPr>
          <p:cNvPr id="15" name="Text 13"/>
          <p:cNvSpPr txBox="1"/>
          <p:nvPr/>
        </p:nvSpPr>
        <p:spPr>
          <a:xfrm>
            <a:off x="4343400" y="1828800"/>
            <a:ext cx="3383280" cy="274320"/>
          </a:xfrm>
          <a:prstGeom prst="rect">
            <a:avLst/>
          </a:prstGeom>
          <a:noFill/>
          <a:ln/>
        </p:spPr>
        <p:txBody>
          <a:bodyPr wrap="square" lIns="0" tIns="0" rIns="0" bIns="0" rtlCol="0" anchor="ctr"/>
          <a:lstStyle/>
          <a:p>
            <a:pPr indent="0" marL="0">
              <a:buNone/>
            </a:pPr>
            <a:r>
              <a:rPr lang="en-US" sz="1200" b="1" spc="100" kern="0" dirty="0">
                <a:solidFill>
                  <a:srgbClr val="2F63E0"/>
                </a:solidFill>
                <a:latin typeface="Calibri" pitchFamily="34" charset="0"/>
                <a:ea typeface="Calibri" pitchFamily="34" charset="-122"/>
                <a:cs typeface="Calibri" pitchFamily="34" charset="-120"/>
              </a:rPr>
              <a:t>OUTILS</a:t>
            </a:r>
            <a:endParaRPr lang="en-US" sz="1200" dirty="0"/>
          </a:p>
        </p:txBody>
      </p:sp>
      <p:sp>
        <p:nvSpPr>
          <p:cNvPr id="16" name="Shape 14"/>
          <p:cNvSpPr/>
          <p:nvPr/>
        </p:nvSpPr>
        <p:spPr>
          <a:xfrm>
            <a:off x="4389120" y="2304288"/>
            <a:ext cx="91440" cy="91440"/>
          </a:xfrm>
          <a:prstGeom prst="ellipse">
            <a:avLst/>
          </a:prstGeom>
          <a:solidFill>
            <a:srgbClr val="2F63E0"/>
          </a:solidFill>
          <a:ln/>
        </p:spPr>
      </p:sp>
      <p:sp>
        <p:nvSpPr>
          <p:cNvPr id="17" name="Text 15"/>
          <p:cNvSpPr txBox="1"/>
          <p:nvPr/>
        </p:nvSpPr>
        <p:spPr>
          <a:xfrm>
            <a:off x="4617720" y="2194560"/>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Git &amp; GitHub</a:t>
            </a:r>
            <a:endParaRPr lang="en-US" sz="1300" dirty="0"/>
          </a:p>
        </p:txBody>
      </p:sp>
      <p:sp>
        <p:nvSpPr>
          <p:cNvPr id="18" name="Shape 16"/>
          <p:cNvSpPr/>
          <p:nvPr/>
        </p:nvSpPr>
        <p:spPr>
          <a:xfrm>
            <a:off x="4389120" y="2834640"/>
            <a:ext cx="91440" cy="91440"/>
          </a:xfrm>
          <a:prstGeom prst="ellipse">
            <a:avLst/>
          </a:prstGeom>
          <a:solidFill>
            <a:srgbClr val="2F63E0"/>
          </a:solidFill>
          <a:ln/>
        </p:spPr>
      </p:sp>
      <p:sp>
        <p:nvSpPr>
          <p:cNvPr id="19" name="Text 17"/>
          <p:cNvSpPr txBox="1"/>
          <p:nvPr/>
        </p:nvSpPr>
        <p:spPr>
          <a:xfrm>
            <a:off x="4617720" y="2724912"/>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Visual Studio Code</a:t>
            </a:r>
            <a:endParaRPr lang="en-US" sz="1300" dirty="0"/>
          </a:p>
        </p:txBody>
      </p:sp>
      <p:sp>
        <p:nvSpPr>
          <p:cNvPr id="20" name="Shape 18"/>
          <p:cNvSpPr/>
          <p:nvPr/>
        </p:nvSpPr>
        <p:spPr>
          <a:xfrm>
            <a:off x="4389120" y="3364992"/>
            <a:ext cx="91440" cy="91440"/>
          </a:xfrm>
          <a:prstGeom prst="ellipse">
            <a:avLst/>
          </a:prstGeom>
          <a:solidFill>
            <a:srgbClr val="2F63E0"/>
          </a:solidFill>
          <a:ln/>
        </p:spPr>
      </p:sp>
      <p:sp>
        <p:nvSpPr>
          <p:cNvPr id="21" name="Text 19"/>
          <p:cNvSpPr txBox="1"/>
          <p:nvPr/>
        </p:nvSpPr>
        <p:spPr>
          <a:xfrm>
            <a:off x="4617720" y="3255264"/>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PhpStorm</a:t>
            </a:r>
            <a:endParaRPr lang="en-US" sz="1300" dirty="0"/>
          </a:p>
        </p:txBody>
      </p:sp>
      <p:sp>
        <p:nvSpPr>
          <p:cNvPr id="22" name="Shape 20"/>
          <p:cNvSpPr/>
          <p:nvPr/>
        </p:nvSpPr>
        <p:spPr>
          <a:xfrm>
            <a:off x="4389120" y="3895344"/>
            <a:ext cx="91440" cy="91440"/>
          </a:xfrm>
          <a:prstGeom prst="ellipse">
            <a:avLst/>
          </a:prstGeom>
          <a:solidFill>
            <a:srgbClr val="2F63E0"/>
          </a:solidFill>
          <a:ln/>
        </p:spPr>
      </p:sp>
      <p:sp>
        <p:nvSpPr>
          <p:cNvPr id="23" name="Text 21"/>
          <p:cNvSpPr txBox="1"/>
          <p:nvPr/>
        </p:nvSpPr>
        <p:spPr>
          <a:xfrm>
            <a:off x="4617720" y="3785616"/>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DBeaver</a:t>
            </a:r>
            <a:endParaRPr lang="en-US" sz="1300" dirty="0"/>
          </a:p>
        </p:txBody>
      </p:sp>
      <p:sp>
        <p:nvSpPr>
          <p:cNvPr id="24" name="Shape 22"/>
          <p:cNvSpPr/>
          <p:nvPr/>
        </p:nvSpPr>
        <p:spPr>
          <a:xfrm>
            <a:off x="4389120" y="4425696"/>
            <a:ext cx="91440" cy="91440"/>
          </a:xfrm>
          <a:prstGeom prst="ellipse">
            <a:avLst/>
          </a:prstGeom>
          <a:solidFill>
            <a:srgbClr val="2F63E0"/>
          </a:solidFill>
          <a:ln/>
        </p:spPr>
      </p:sp>
      <p:sp>
        <p:nvSpPr>
          <p:cNvPr id="25" name="Text 23"/>
          <p:cNvSpPr txBox="1"/>
          <p:nvPr/>
        </p:nvSpPr>
        <p:spPr>
          <a:xfrm>
            <a:off x="4617720" y="4315968"/>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Unity Hub</a:t>
            </a:r>
            <a:endParaRPr lang="en-US" sz="1300" dirty="0"/>
          </a:p>
        </p:txBody>
      </p:sp>
      <p:sp>
        <p:nvSpPr>
          <p:cNvPr id="26" name="Text 24"/>
          <p:cNvSpPr txBox="1"/>
          <p:nvPr/>
        </p:nvSpPr>
        <p:spPr>
          <a:xfrm>
            <a:off x="8046720" y="1828800"/>
            <a:ext cx="3383280" cy="274320"/>
          </a:xfrm>
          <a:prstGeom prst="rect">
            <a:avLst/>
          </a:prstGeom>
          <a:noFill/>
          <a:ln/>
        </p:spPr>
        <p:txBody>
          <a:bodyPr wrap="square" lIns="0" tIns="0" rIns="0" bIns="0" rtlCol="0" anchor="ctr"/>
          <a:lstStyle/>
          <a:p>
            <a:pPr indent="0" marL="0">
              <a:buNone/>
            </a:pPr>
            <a:r>
              <a:rPr lang="en-US" sz="1200" b="1" spc="100" kern="0" dirty="0">
                <a:solidFill>
                  <a:srgbClr val="2F63E0"/>
                </a:solidFill>
                <a:latin typeface="Calibri" pitchFamily="34" charset="0"/>
                <a:ea typeface="Calibri" pitchFamily="34" charset="-122"/>
                <a:cs typeface="Calibri" pitchFamily="34" charset="-120"/>
              </a:rPr>
              <a:t>NOTIONS COMPLÉMENTAIRES</a:t>
            </a:r>
            <a:endParaRPr lang="en-US" sz="1200" dirty="0"/>
          </a:p>
        </p:txBody>
      </p:sp>
      <p:sp>
        <p:nvSpPr>
          <p:cNvPr id="27" name="Shape 25"/>
          <p:cNvSpPr/>
          <p:nvPr/>
        </p:nvSpPr>
        <p:spPr>
          <a:xfrm>
            <a:off x="8092440" y="2304288"/>
            <a:ext cx="91440" cy="91440"/>
          </a:xfrm>
          <a:prstGeom prst="ellipse">
            <a:avLst/>
          </a:prstGeom>
          <a:solidFill>
            <a:srgbClr val="2F63E0"/>
          </a:solidFill>
          <a:ln/>
        </p:spPr>
      </p:sp>
      <p:sp>
        <p:nvSpPr>
          <p:cNvPr id="28" name="Text 26"/>
          <p:cNvSpPr txBox="1"/>
          <p:nvPr/>
        </p:nvSpPr>
        <p:spPr>
          <a:xfrm>
            <a:off x="8321040" y="2194560"/>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Bases de données &amp; UML2</a:t>
            </a:r>
            <a:endParaRPr lang="en-US" sz="1300" dirty="0"/>
          </a:p>
        </p:txBody>
      </p:sp>
      <p:sp>
        <p:nvSpPr>
          <p:cNvPr id="29" name="Shape 27"/>
          <p:cNvSpPr/>
          <p:nvPr/>
        </p:nvSpPr>
        <p:spPr>
          <a:xfrm>
            <a:off x="8092440" y="2834640"/>
            <a:ext cx="91440" cy="91440"/>
          </a:xfrm>
          <a:prstGeom prst="ellipse">
            <a:avLst/>
          </a:prstGeom>
          <a:solidFill>
            <a:srgbClr val="2F63E0"/>
          </a:solidFill>
          <a:ln/>
        </p:spPr>
      </p:sp>
      <p:sp>
        <p:nvSpPr>
          <p:cNvPr id="30" name="Text 28"/>
          <p:cNvSpPr txBox="1"/>
          <p:nvPr/>
        </p:nvSpPr>
        <p:spPr>
          <a:xfrm>
            <a:off x="8321040" y="2724912"/>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Réseaux — Cisco CCNA 1 &amp; 2</a:t>
            </a:r>
            <a:endParaRPr lang="en-US" sz="1300" dirty="0"/>
          </a:p>
        </p:txBody>
      </p:sp>
      <p:sp>
        <p:nvSpPr>
          <p:cNvPr id="31" name="Shape 29"/>
          <p:cNvSpPr/>
          <p:nvPr/>
        </p:nvSpPr>
        <p:spPr>
          <a:xfrm>
            <a:off x="8092440" y="3364992"/>
            <a:ext cx="91440" cy="91440"/>
          </a:xfrm>
          <a:prstGeom prst="ellipse">
            <a:avLst/>
          </a:prstGeom>
          <a:solidFill>
            <a:srgbClr val="2F63E0"/>
          </a:solidFill>
          <a:ln/>
        </p:spPr>
      </p:sp>
      <p:sp>
        <p:nvSpPr>
          <p:cNvPr id="32" name="Text 30"/>
          <p:cNvSpPr txBox="1"/>
          <p:nvPr/>
        </p:nvSpPr>
        <p:spPr>
          <a:xfrm>
            <a:off x="8321040" y="3255264"/>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Windows Server &amp; Linux</a:t>
            </a:r>
            <a:endParaRPr lang="en-US" sz="1300" dirty="0"/>
          </a:p>
        </p:txBody>
      </p:sp>
      <p:sp>
        <p:nvSpPr>
          <p:cNvPr id="33" name="Shape 31"/>
          <p:cNvSpPr/>
          <p:nvPr/>
        </p:nvSpPr>
        <p:spPr>
          <a:xfrm>
            <a:off x="8092440" y="3895344"/>
            <a:ext cx="91440" cy="91440"/>
          </a:xfrm>
          <a:prstGeom prst="ellipse">
            <a:avLst/>
          </a:prstGeom>
          <a:solidFill>
            <a:srgbClr val="2F63E0"/>
          </a:solidFill>
          <a:ln/>
        </p:spPr>
      </p:sp>
      <p:sp>
        <p:nvSpPr>
          <p:cNvPr id="34" name="Text 32"/>
          <p:cNvSpPr txBox="1"/>
          <p:nvPr/>
        </p:nvSpPr>
        <p:spPr>
          <a:xfrm>
            <a:off x="8321040" y="3785616"/>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Virtualisation (ESXi / Proxmox)</a:t>
            </a:r>
            <a:endParaRPr lang="en-US" sz="1300" dirty="0"/>
          </a:p>
        </p:txBody>
      </p:sp>
      <p:sp>
        <p:nvSpPr>
          <p:cNvPr id="35" name="Shape 33"/>
          <p:cNvSpPr/>
          <p:nvPr/>
        </p:nvSpPr>
        <p:spPr>
          <a:xfrm>
            <a:off x="8092440" y="4425696"/>
            <a:ext cx="91440" cy="91440"/>
          </a:xfrm>
          <a:prstGeom prst="ellipse">
            <a:avLst/>
          </a:prstGeom>
          <a:solidFill>
            <a:srgbClr val="2F63E0"/>
          </a:solidFill>
          <a:ln/>
        </p:spPr>
      </p:sp>
      <p:sp>
        <p:nvSpPr>
          <p:cNvPr id="36" name="Text 34"/>
          <p:cNvSpPr txBox="1"/>
          <p:nvPr/>
        </p:nvSpPr>
        <p:spPr>
          <a:xfrm>
            <a:off x="8321040" y="4315968"/>
            <a:ext cx="3200400" cy="502920"/>
          </a:xfrm>
          <a:prstGeom prst="rect">
            <a:avLst/>
          </a:prstGeom>
          <a:noFill/>
          <a:ln/>
        </p:spPr>
        <p:txBody>
          <a:bodyPr wrap="square" lIns="0" tIns="0" rIns="0" bIns="0" rtlCol="0" anchor="ctr"/>
          <a:lstStyle/>
          <a:p>
            <a:pPr indent="0" marL="0">
              <a:lnSpc>
                <a:spcPct val="110000"/>
              </a:lnSpc>
              <a:buNone/>
            </a:pPr>
            <a:r>
              <a:rPr lang="en-US" sz="1300" dirty="0">
                <a:solidFill>
                  <a:srgbClr val="16223D"/>
                </a:solidFill>
                <a:latin typeface="Calibri" pitchFamily="34" charset="0"/>
                <a:ea typeface="Calibri" pitchFamily="34" charset="-122"/>
                <a:cs typeface="Calibri" pitchFamily="34" charset="-120"/>
              </a:rPr>
              <a:t>Cybersécurité, RGPD</a:t>
            </a:r>
            <a:endParaRPr lang="en-US" sz="1300" dirty="0"/>
          </a:p>
        </p:txBody>
      </p:sp>
      <p:sp>
        <p:nvSpPr>
          <p:cNvPr id="37" name="Shape 35"/>
          <p:cNvSpPr/>
          <p:nvPr/>
        </p:nvSpPr>
        <p:spPr>
          <a:xfrm>
            <a:off x="4114800" y="1828800"/>
            <a:ext cx="0" cy="3017520"/>
          </a:xfrm>
          <a:prstGeom prst="line">
            <a:avLst/>
          </a:prstGeom>
          <a:noFill/>
          <a:ln w="12700">
            <a:solidFill>
              <a:srgbClr val="D9DEE8"/>
            </a:solidFill>
            <a:prstDash val="solid"/>
          </a:ln>
        </p:spPr>
      </p:sp>
      <p:sp>
        <p:nvSpPr>
          <p:cNvPr id="38" name="Shape 36"/>
          <p:cNvSpPr/>
          <p:nvPr/>
        </p:nvSpPr>
        <p:spPr>
          <a:xfrm>
            <a:off x="7818120" y="1828800"/>
            <a:ext cx="0" cy="3017520"/>
          </a:xfrm>
          <a:prstGeom prst="line">
            <a:avLst/>
          </a:prstGeom>
          <a:noFill/>
          <a:ln w="12700">
            <a:solidFill>
              <a:srgbClr val="D9DEE8"/>
            </a:solidFill>
            <a:prstDash val="solid"/>
          </a:ln>
        </p:spPr>
      </p:sp>
      <p:sp>
        <p:nvSpPr>
          <p:cNvPr id="39" name="Text 3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Portfolio — 1ère année IPSSI</a:t>
            </a:r>
            <a:endParaRPr lang="en-US" sz="1000" dirty="0"/>
          </a:p>
        </p:txBody>
      </p:sp>
      <p:sp>
        <p:nvSpPr>
          <p:cNvPr id="40" name="Text 38"/>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200" b="1" spc="100" kern="0" dirty="0">
                <a:solidFill>
                  <a:srgbClr val="2F63E0"/>
                </a:solidFill>
                <a:latin typeface="Calibri" pitchFamily="34" charset="0"/>
                <a:ea typeface="Calibri" pitchFamily="34" charset="-122"/>
                <a:cs typeface="Calibri" pitchFamily="34" charset="-120"/>
              </a:rPr>
              <a:t>COMPÉTENCES</a:t>
            </a:r>
            <a:endParaRPr lang="en-US" sz="1200" dirty="0"/>
          </a:p>
        </p:txBody>
      </p:sp>
      <p:sp>
        <p:nvSpPr>
          <p:cNvPr id="3" name="Text 1"/>
          <p:cNvSpPr txBox="1"/>
          <p:nvPr/>
        </p:nvSpPr>
        <p:spPr>
          <a:xfrm>
            <a:off x="640080" y="749808"/>
            <a:ext cx="10789920" cy="731520"/>
          </a:xfrm>
          <a:prstGeom prst="rect">
            <a:avLst/>
          </a:prstGeom>
          <a:noFill/>
          <a:ln/>
        </p:spPr>
        <p:txBody>
          <a:bodyPr wrap="square" lIns="0" tIns="0" rIns="0" bIns="0" rtlCol="0" anchor="ctr"/>
          <a:lstStyle/>
          <a:p>
            <a:pPr indent="0" marL="0">
              <a:buNone/>
            </a:pPr>
            <a:r>
              <a:rPr lang="en-US" sz="2800" b="1" dirty="0">
                <a:solidFill>
                  <a:srgbClr val="16223D"/>
                </a:solidFill>
                <a:latin typeface="Cambria" pitchFamily="34" charset="0"/>
                <a:ea typeface="Cambria" pitchFamily="34" charset="-122"/>
                <a:cs typeface="Cambria" pitchFamily="34" charset="-120"/>
              </a:rPr>
              <a:t>Compétences transversales</a:t>
            </a:r>
            <a:endParaRPr lang="en-US" sz="2800" dirty="0"/>
          </a:p>
        </p:txBody>
      </p:sp>
      <p:sp>
        <p:nvSpPr>
          <p:cNvPr id="4" name="Shape 2"/>
          <p:cNvSpPr/>
          <p:nvPr/>
        </p:nvSpPr>
        <p:spPr>
          <a:xfrm>
            <a:off x="640080" y="1783080"/>
            <a:ext cx="5074920" cy="1691640"/>
          </a:xfrm>
          <a:prstGeom prst="roundRect">
            <a:avLst>
              <a:gd name="adj" fmla="val 4324"/>
            </a:avLst>
          </a:prstGeom>
          <a:solidFill>
            <a:srgbClr val="F5F7FB"/>
          </a:solidFill>
          <a:ln w="12700">
            <a:solidFill>
              <a:srgbClr val="E3E8F3"/>
            </a:solidFill>
            <a:prstDash val="solid"/>
          </a:ln>
        </p:spPr>
      </p:sp>
      <p:sp>
        <p:nvSpPr>
          <p:cNvPr id="5" name="Text 3"/>
          <p:cNvSpPr txBox="1"/>
          <p:nvPr/>
        </p:nvSpPr>
        <p:spPr>
          <a:xfrm>
            <a:off x="914400" y="2011680"/>
            <a:ext cx="4526280" cy="365760"/>
          </a:xfrm>
          <a:prstGeom prst="rect">
            <a:avLst/>
          </a:prstGeom>
          <a:noFill/>
          <a:ln/>
        </p:spPr>
        <p:txBody>
          <a:bodyPr wrap="square" lIns="0" tIns="0" rIns="0" bIns="0" rtlCol="0" anchor="ctr"/>
          <a:lstStyle/>
          <a:p>
            <a:pPr indent="0" marL="0">
              <a:buNone/>
            </a:pPr>
            <a:r>
              <a:rPr lang="en-US" sz="1600" b="1" dirty="0">
                <a:solidFill>
                  <a:srgbClr val="16223D"/>
                </a:solidFill>
                <a:latin typeface="Cambria" pitchFamily="34" charset="0"/>
                <a:ea typeface="Cambria" pitchFamily="34" charset="-122"/>
                <a:cs typeface="Cambria" pitchFamily="34" charset="-120"/>
              </a:rPr>
              <a:t>Autonomie</a:t>
            </a:r>
            <a:endParaRPr lang="en-US" sz="1600" dirty="0"/>
          </a:p>
        </p:txBody>
      </p:sp>
      <p:sp>
        <p:nvSpPr>
          <p:cNvPr id="6" name="Text 4"/>
          <p:cNvSpPr txBox="1"/>
          <p:nvPr/>
        </p:nvSpPr>
        <p:spPr>
          <a:xfrm>
            <a:off x="914400" y="2468880"/>
            <a:ext cx="4526280" cy="914400"/>
          </a:xfrm>
          <a:prstGeom prst="rect">
            <a:avLst/>
          </a:prstGeom>
          <a:noFill/>
          <a:ln/>
        </p:spPr>
        <p:txBody>
          <a:bodyPr wrap="square" lIns="0" tIns="0" rIns="0" bIns="0" rtlCol="0" anchor="ctr"/>
          <a:lstStyle/>
          <a:p>
            <a:pPr indent="0" marL="0">
              <a:lnSpc>
                <a:spcPct val="115000"/>
              </a:lnSpc>
              <a:buNone/>
            </a:pPr>
            <a:r>
              <a:rPr lang="en-US" sz="1250" dirty="0">
                <a:solidFill>
                  <a:srgbClr val="5B6472"/>
                </a:solidFill>
                <a:latin typeface="Calibri" pitchFamily="34" charset="0"/>
                <a:ea typeface="Calibri" pitchFamily="34" charset="-122"/>
                <a:cs typeface="Calibri" pitchFamily="34" charset="-120"/>
              </a:rPr>
              <a:t>Conduite de projets complets, du cadrage à la livraison, en autonomie.</a:t>
            </a:r>
            <a:endParaRPr lang="en-US" sz="1250" dirty="0"/>
          </a:p>
        </p:txBody>
      </p:sp>
      <p:sp>
        <p:nvSpPr>
          <p:cNvPr id="7" name="Shape 5"/>
          <p:cNvSpPr/>
          <p:nvPr/>
        </p:nvSpPr>
        <p:spPr>
          <a:xfrm>
            <a:off x="6172200" y="1783080"/>
            <a:ext cx="5074920" cy="1691640"/>
          </a:xfrm>
          <a:prstGeom prst="roundRect">
            <a:avLst>
              <a:gd name="adj" fmla="val 4324"/>
            </a:avLst>
          </a:prstGeom>
          <a:solidFill>
            <a:srgbClr val="F5F7FB"/>
          </a:solidFill>
          <a:ln w="12700">
            <a:solidFill>
              <a:srgbClr val="E3E8F3"/>
            </a:solidFill>
            <a:prstDash val="solid"/>
          </a:ln>
        </p:spPr>
      </p:sp>
      <p:sp>
        <p:nvSpPr>
          <p:cNvPr id="8" name="Text 6"/>
          <p:cNvSpPr txBox="1"/>
          <p:nvPr/>
        </p:nvSpPr>
        <p:spPr>
          <a:xfrm>
            <a:off x="6446520" y="2011680"/>
            <a:ext cx="4526280" cy="365760"/>
          </a:xfrm>
          <a:prstGeom prst="rect">
            <a:avLst/>
          </a:prstGeom>
          <a:noFill/>
          <a:ln/>
        </p:spPr>
        <p:txBody>
          <a:bodyPr wrap="square" lIns="0" tIns="0" rIns="0" bIns="0" rtlCol="0" anchor="ctr"/>
          <a:lstStyle/>
          <a:p>
            <a:pPr indent="0" marL="0">
              <a:buNone/>
            </a:pPr>
            <a:r>
              <a:rPr lang="en-US" sz="1600" b="1" dirty="0">
                <a:solidFill>
                  <a:srgbClr val="16223D"/>
                </a:solidFill>
                <a:latin typeface="Cambria" pitchFamily="34" charset="0"/>
                <a:ea typeface="Cambria" pitchFamily="34" charset="-122"/>
                <a:cs typeface="Cambria" pitchFamily="34" charset="-120"/>
              </a:rPr>
              <a:t>Travail en équipe</a:t>
            </a:r>
            <a:endParaRPr lang="en-US" sz="1600" dirty="0"/>
          </a:p>
        </p:txBody>
      </p:sp>
      <p:sp>
        <p:nvSpPr>
          <p:cNvPr id="9" name="Text 7"/>
          <p:cNvSpPr txBox="1"/>
          <p:nvPr/>
        </p:nvSpPr>
        <p:spPr>
          <a:xfrm>
            <a:off x="6446520" y="2468880"/>
            <a:ext cx="4526280" cy="914400"/>
          </a:xfrm>
          <a:prstGeom prst="rect">
            <a:avLst/>
          </a:prstGeom>
          <a:noFill/>
          <a:ln/>
        </p:spPr>
        <p:txBody>
          <a:bodyPr wrap="square" lIns="0" tIns="0" rIns="0" bIns="0" rtlCol="0" anchor="ctr"/>
          <a:lstStyle/>
          <a:p>
            <a:pPr indent="0" marL="0">
              <a:lnSpc>
                <a:spcPct val="115000"/>
              </a:lnSpc>
              <a:buNone/>
            </a:pPr>
            <a:r>
              <a:rPr lang="en-US" sz="1250" dirty="0">
                <a:solidFill>
                  <a:srgbClr val="5B6472"/>
                </a:solidFill>
                <a:latin typeface="Calibri" pitchFamily="34" charset="0"/>
                <a:ea typeface="Calibri" pitchFamily="34" charset="-122"/>
                <a:cs typeface="Calibri" pitchFamily="34" charset="-120"/>
              </a:rPr>
              <a:t>Collaboration sur les projets de groupe (systèmes et réseaux, thématique).</a:t>
            </a:r>
            <a:endParaRPr lang="en-US" sz="1250" dirty="0"/>
          </a:p>
        </p:txBody>
      </p:sp>
      <p:sp>
        <p:nvSpPr>
          <p:cNvPr id="10" name="Shape 8"/>
          <p:cNvSpPr/>
          <p:nvPr/>
        </p:nvSpPr>
        <p:spPr>
          <a:xfrm>
            <a:off x="640080" y="3794760"/>
            <a:ext cx="5074920" cy="1691640"/>
          </a:xfrm>
          <a:prstGeom prst="roundRect">
            <a:avLst>
              <a:gd name="adj" fmla="val 4324"/>
            </a:avLst>
          </a:prstGeom>
          <a:solidFill>
            <a:srgbClr val="F5F7FB"/>
          </a:solidFill>
          <a:ln w="12700">
            <a:solidFill>
              <a:srgbClr val="E3E8F3"/>
            </a:solidFill>
            <a:prstDash val="solid"/>
          </a:ln>
        </p:spPr>
      </p:sp>
      <p:sp>
        <p:nvSpPr>
          <p:cNvPr id="11" name="Text 9"/>
          <p:cNvSpPr txBox="1"/>
          <p:nvPr/>
        </p:nvSpPr>
        <p:spPr>
          <a:xfrm>
            <a:off x="914400" y="4023360"/>
            <a:ext cx="4526280" cy="365760"/>
          </a:xfrm>
          <a:prstGeom prst="rect">
            <a:avLst/>
          </a:prstGeom>
          <a:noFill/>
          <a:ln/>
        </p:spPr>
        <p:txBody>
          <a:bodyPr wrap="square" lIns="0" tIns="0" rIns="0" bIns="0" rtlCol="0" anchor="ctr"/>
          <a:lstStyle/>
          <a:p>
            <a:pPr indent="0" marL="0">
              <a:buNone/>
            </a:pPr>
            <a:r>
              <a:rPr lang="en-US" sz="1600" b="1" dirty="0">
                <a:solidFill>
                  <a:srgbClr val="16223D"/>
                </a:solidFill>
                <a:latin typeface="Cambria" pitchFamily="34" charset="0"/>
                <a:ea typeface="Cambria" pitchFamily="34" charset="-122"/>
                <a:cs typeface="Cambria" pitchFamily="34" charset="-120"/>
              </a:rPr>
              <a:t>Communication</a:t>
            </a:r>
            <a:endParaRPr lang="en-US" sz="1600" dirty="0"/>
          </a:p>
        </p:txBody>
      </p:sp>
      <p:sp>
        <p:nvSpPr>
          <p:cNvPr id="12" name="Text 10"/>
          <p:cNvSpPr txBox="1"/>
          <p:nvPr/>
        </p:nvSpPr>
        <p:spPr>
          <a:xfrm>
            <a:off x="914400" y="4480560"/>
            <a:ext cx="4526280" cy="914400"/>
          </a:xfrm>
          <a:prstGeom prst="rect">
            <a:avLst/>
          </a:prstGeom>
          <a:noFill/>
          <a:ln/>
        </p:spPr>
        <p:txBody>
          <a:bodyPr wrap="square" lIns="0" tIns="0" rIns="0" bIns="0" rtlCol="0" anchor="ctr"/>
          <a:lstStyle/>
          <a:p>
            <a:pPr indent="0" marL="0">
              <a:lnSpc>
                <a:spcPct val="115000"/>
              </a:lnSpc>
              <a:buNone/>
            </a:pPr>
            <a:r>
              <a:rPr lang="en-US" sz="1250" dirty="0">
                <a:solidFill>
                  <a:srgbClr val="5B6472"/>
                </a:solidFill>
                <a:latin typeface="Calibri" pitchFamily="34" charset="0"/>
                <a:ea typeface="Calibri" pitchFamily="34" charset="-122"/>
                <a:cs typeface="Calibri" pitchFamily="34" charset="-120"/>
              </a:rPr>
              <a:t>Présentation de mon travail à l'oral lors des soutenances de projets.</a:t>
            </a:r>
            <a:endParaRPr lang="en-US" sz="1250" dirty="0"/>
          </a:p>
        </p:txBody>
      </p:sp>
      <p:sp>
        <p:nvSpPr>
          <p:cNvPr id="13" name="Shape 11"/>
          <p:cNvSpPr/>
          <p:nvPr/>
        </p:nvSpPr>
        <p:spPr>
          <a:xfrm>
            <a:off x="6172200" y="3794760"/>
            <a:ext cx="5074920" cy="1691640"/>
          </a:xfrm>
          <a:prstGeom prst="roundRect">
            <a:avLst>
              <a:gd name="adj" fmla="val 4324"/>
            </a:avLst>
          </a:prstGeom>
          <a:solidFill>
            <a:srgbClr val="F5F7FB"/>
          </a:solidFill>
          <a:ln w="12700">
            <a:solidFill>
              <a:srgbClr val="E3E8F3"/>
            </a:solidFill>
            <a:prstDash val="solid"/>
          </a:ln>
        </p:spPr>
      </p:sp>
      <p:sp>
        <p:nvSpPr>
          <p:cNvPr id="14" name="Text 12"/>
          <p:cNvSpPr txBox="1"/>
          <p:nvPr/>
        </p:nvSpPr>
        <p:spPr>
          <a:xfrm>
            <a:off x="6446520" y="4023360"/>
            <a:ext cx="4526280" cy="365760"/>
          </a:xfrm>
          <a:prstGeom prst="rect">
            <a:avLst/>
          </a:prstGeom>
          <a:noFill/>
          <a:ln/>
        </p:spPr>
        <p:txBody>
          <a:bodyPr wrap="square" lIns="0" tIns="0" rIns="0" bIns="0" rtlCol="0" anchor="ctr"/>
          <a:lstStyle/>
          <a:p>
            <a:pPr indent="0" marL="0">
              <a:buNone/>
            </a:pPr>
            <a:r>
              <a:rPr lang="en-US" sz="1600" b="1" dirty="0">
                <a:solidFill>
                  <a:srgbClr val="16223D"/>
                </a:solidFill>
                <a:latin typeface="Cambria" pitchFamily="34" charset="0"/>
                <a:ea typeface="Cambria" pitchFamily="34" charset="-122"/>
                <a:cs typeface="Cambria" pitchFamily="34" charset="-120"/>
              </a:rPr>
              <a:t>Gestion du temps</a:t>
            </a:r>
            <a:endParaRPr lang="en-US" sz="1600" dirty="0"/>
          </a:p>
        </p:txBody>
      </p:sp>
      <p:sp>
        <p:nvSpPr>
          <p:cNvPr id="15" name="Text 13"/>
          <p:cNvSpPr txBox="1"/>
          <p:nvPr/>
        </p:nvSpPr>
        <p:spPr>
          <a:xfrm>
            <a:off x="6446520" y="4480560"/>
            <a:ext cx="4526280" cy="914400"/>
          </a:xfrm>
          <a:prstGeom prst="rect">
            <a:avLst/>
          </a:prstGeom>
          <a:noFill/>
          <a:ln/>
        </p:spPr>
        <p:txBody>
          <a:bodyPr wrap="square" lIns="0" tIns="0" rIns="0" bIns="0" rtlCol="0" anchor="ctr"/>
          <a:lstStyle/>
          <a:p>
            <a:pPr indent="0" marL="0">
              <a:lnSpc>
                <a:spcPct val="115000"/>
              </a:lnSpc>
              <a:buNone/>
            </a:pPr>
            <a:r>
              <a:rPr lang="en-US" sz="1250" dirty="0">
                <a:solidFill>
                  <a:srgbClr val="5B6472"/>
                </a:solidFill>
                <a:latin typeface="Calibri" pitchFamily="34" charset="0"/>
                <a:ea typeface="Calibri" pitchFamily="34" charset="-122"/>
                <a:cs typeface="Calibri" pitchFamily="34" charset="-120"/>
              </a:rPr>
              <a:t>Organisation sous contrainte de délai (ex : projet personnel en une semaine).</a:t>
            </a:r>
            <a:endParaRPr lang="en-US" sz="1250" dirty="0"/>
          </a:p>
        </p:txBody>
      </p:sp>
      <p:sp>
        <p:nvSpPr>
          <p:cNvPr id="16" name="Shape 14"/>
          <p:cNvSpPr/>
          <p:nvPr/>
        </p:nvSpPr>
        <p:spPr>
          <a:xfrm>
            <a:off x="640080" y="5440680"/>
            <a:ext cx="10881360" cy="777240"/>
          </a:xfrm>
          <a:prstGeom prst="roundRect">
            <a:avLst>
              <a:gd name="adj" fmla="val 7059"/>
            </a:avLst>
          </a:prstGeom>
          <a:solidFill>
            <a:srgbClr val="E8EEFC"/>
          </a:solidFill>
          <a:ln/>
        </p:spPr>
      </p:sp>
      <p:sp>
        <p:nvSpPr>
          <p:cNvPr id="17" name="Text 15"/>
          <p:cNvSpPr txBox="1"/>
          <p:nvPr/>
        </p:nvSpPr>
        <p:spPr>
          <a:xfrm>
            <a:off x="914400" y="5440680"/>
            <a:ext cx="10332720" cy="777240"/>
          </a:xfrm>
          <a:prstGeom prst="rect">
            <a:avLst/>
          </a:prstGeom>
          <a:noFill/>
          <a:ln/>
        </p:spPr>
        <p:txBody>
          <a:bodyPr wrap="square" lIns="0" tIns="0" rIns="0" bIns="0" rtlCol="0" anchor="ctr"/>
          <a:lstStyle/>
          <a:p>
            <a:pPr indent="0" marL="0">
              <a:lnSpc>
                <a:spcPct val="115000"/>
              </a:lnSpc>
              <a:buNone/>
            </a:pPr>
            <a:r>
              <a:rPr lang="en-US" sz="1200" i="1" dirty="0">
                <a:solidFill>
                  <a:srgbClr val="0F1B3D"/>
                </a:solidFill>
                <a:latin typeface="Calibri" pitchFamily="34" charset="0"/>
                <a:ea typeface="Calibri" pitchFamily="34" charset="-122"/>
                <a:cs typeface="Calibri" pitchFamily="34" charset="-120"/>
              </a:rPr>
              <a:t>En toute sincérité, je suis encore en phase d'exploration pour identifier précisément l'environnement et le poste qui me correspondent le mieux — cette première année m'a surtout permis de découvrir la diversité des métiers du numérique.</a:t>
            </a:r>
            <a:endParaRPr lang="en-US" sz="1200" dirty="0"/>
          </a:p>
        </p:txBody>
      </p:sp>
      <p:sp>
        <p:nvSpPr>
          <p:cNvPr id="18" name="Text 16"/>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Portfolio — 1ère année IPSSI</a:t>
            </a:r>
            <a:endParaRPr lang="en-US" sz="1000" dirty="0"/>
          </a:p>
        </p:txBody>
      </p:sp>
      <p:sp>
        <p:nvSpPr>
          <p:cNvPr id="19" name="Text 17"/>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200" b="1" spc="100" kern="0" dirty="0">
                <a:solidFill>
                  <a:srgbClr val="2F63E0"/>
                </a:solidFill>
                <a:latin typeface="Calibri" pitchFamily="34" charset="0"/>
                <a:ea typeface="Calibri" pitchFamily="34" charset="-122"/>
                <a:cs typeface="Calibri" pitchFamily="34" charset="-120"/>
              </a:rPr>
              <a:t>PROJETS</a:t>
            </a:r>
            <a:endParaRPr lang="en-US" sz="1200" dirty="0"/>
          </a:p>
        </p:txBody>
      </p:sp>
      <p:sp>
        <p:nvSpPr>
          <p:cNvPr id="3" name="Text 1"/>
          <p:cNvSpPr txBox="1"/>
          <p:nvPr/>
        </p:nvSpPr>
        <p:spPr>
          <a:xfrm>
            <a:off x="640080" y="749808"/>
            <a:ext cx="10789920" cy="731520"/>
          </a:xfrm>
          <a:prstGeom prst="rect">
            <a:avLst/>
          </a:prstGeom>
          <a:noFill/>
          <a:ln/>
        </p:spPr>
        <p:txBody>
          <a:bodyPr wrap="square" lIns="0" tIns="0" rIns="0" bIns="0" rtlCol="0" anchor="ctr"/>
          <a:lstStyle/>
          <a:p>
            <a:pPr indent="0" marL="0">
              <a:buNone/>
            </a:pPr>
            <a:r>
              <a:rPr lang="en-US" sz="2800" b="1" dirty="0">
                <a:solidFill>
                  <a:srgbClr val="16223D"/>
                </a:solidFill>
                <a:latin typeface="Cambria" pitchFamily="34" charset="0"/>
                <a:ea typeface="Cambria" pitchFamily="34" charset="-122"/>
                <a:cs typeface="Cambria" pitchFamily="34" charset="-120"/>
              </a:rPr>
              <a:t>Les réalisations de l'année</a:t>
            </a:r>
            <a:endParaRPr lang="en-US" sz="2800" dirty="0"/>
          </a:p>
        </p:txBody>
      </p:sp>
      <p:sp>
        <p:nvSpPr>
          <p:cNvPr id="4" name="Shape 2"/>
          <p:cNvSpPr/>
          <p:nvPr/>
        </p:nvSpPr>
        <p:spPr>
          <a:xfrm>
            <a:off x="640080" y="1783080"/>
            <a:ext cx="5074920" cy="1874520"/>
          </a:xfrm>
          <a:prstGeom prst="roundRect">
            <a:avLst>
              <a:gd name="adj" fmla="val 3902"/>
            </a:avLst>
          </a:prstGeom>
          <a:solidFill>
            <a:srgbClr val="FFFFFF"/>
          </a:solidFill>
          <a:ln w="12700">
            <a:solidFill>
              <a:srgbClr val="E3E8F3"/>
            </a:solidFill>
            <a:prstDash val="solid"/>
          </a:ln>
        </p:spPr>
      </p:sp>
      <p:sp>
        <p:nvSpPr>
          <p:cNvPr id="5" name="Text 3"/>
          <p:cNvSpPr txBox="1"/>
          <p:nvPr/>
        </p:nvSpPr>
        <p:spPr>
          <a:xfrm>
            <a:off x="914400" y="1965960"/>
            <a:ext cx="4526280" cy="320040"/>
          </a:xfrm>
          <a:prstGeom prst="rect">
            <a:avLst/>
          </a:prstGeom>
          <a:noFill/>
          <a:ln/>
        </p:spPr>
        <p:txBody>
          <a:bodyPr wrap="square" lIns="0" tIns="0" rIns="0" bIns="0" rtlCol="0" anchor="ctr"/>
          <a:lstStyle/>
          <a:p>
            <a:pPr indent="0" marL="0">
              <a:buNone/>
            </a:pPr>
            <a:r>
              <a:rPr lang="en-US" sz="1550" b="1" dirty="0">
                <a:solidFill>
                  <a:srgbClr val="16223D"/>
                </a:solidFill>
                <a:latin typeface="Cambria" pitchFamily="34" charset="0"/>
                <a:ea typeface="Cambria" pitchFamily="34" charset="-122"/>
                <a:cs typeface="Cambria" pitchFamily="34" charset="-120"/>
              </a:rPr>
              <a:t>Cubic Infra</a:t>
            </a:r>
            <a:endParaRPr lang="en-US" sz="1550" dirty="0"/>
          </a:p>
        </p:txBody>
      </p:sp>
      <p:sp>
        <p:nvSpPr>
          <p:cNvPr id="6" name="Text 4"/>
          <p:cNvSpPr txBox="1"/>
          <p:nvPr/>
        </p:nvSpPr>
        <p:spPr>
          <a:xfrm>
            <a:off x="914400" y="2258568"/>
            <a:ext cx="4526280" cy="274320"/>
          </a:xfrm>
          <a:prstGeom prst="rect">
            <a:avLst/>
          </a:prstGeom>
          <a:noFill/>
          <a:ln/>
        </p:spPr>
        <p:txBody>
          <a:bodyPr wrap="square" lIns="0" tIns="0" rIns="0" bIns="0" rtlCol="0" anchor="ctr"/>
          <a:lstStyle/>
          <a:p>
            <a:pPr indent="0" marL="0">
              <a:buNone/>
            </a:pPr>
            <a:r>
              <a:rPr lang="en-US" sz="1050" b="1" dirty="0">
                <a:solidFill>
                  <a:srgbClr val="2F63E0"/>
                </a:solidFill>
                <a:latin typeface="Calibri" pitchFamily="34" charset="0"/>
                <a:ea typeface="Calibri" pitchFamily="34" charset="-122"/>
                <a:cs typeface="Calibri" pitchFamily="34" charset="-120"/>
              </a:rPr>
              <a:t>Projet Web — UE1</a:t>
            </a:r>
            <a:endParaRPr lang="en-US" sz="1050" dirty="0"/>
          </a:p>
        </p:txBody>
      </p:sp>
      <p:sp>
        <p:nvSpPr>
          <p:cNvPr id="7" name="Text 5"/>
          <p:cNvSpPr txBox="1"/>
          <p:nvPr/>
        </p:nvSpPr>
        <p:spPr>
          <a:xfrm>
            <a:off x="914400" y="2560320"/>
            <a:ext cx="4526280" cy="685800"/>
          </a:xfrm>
          <a:prstGeom prst="rect">
            <a:avLst/>
          </a:prstGeom>
          <a:noFill/>
          <a:ln/>
        </p:spPr>
        <p:txBody>
          <a:bodyPr wrap="square" lIns="0" tIns="0" rIns="0" bIns="0" rtlCol="0" anchor="ctr"/>
          <a:lstStyle/>
          <a:p>
            <a:pPr indent="0" marL="0">
              <a:lnSpc>
                <a:spcPct val="115000"/>
              </a:lnSpc>
              <a:buNone/>
            </a:pPr>
            <a:r>
              <a:rPr lang="en-US" sz="1150" dirty="0">
                <a:solidFill>
                  <a:srgbClr val="5B6472"/>
                </a:solidFill>
                <a:latin typeface="Calibri" pitchFamily="34" charset="0"/>
                <a:ea typeface="Calibri" pitchFamily="34" charset="-122"/>
                <a:cs typeface="Calibri" pitchFamily="34" charset="-120"/>
              </a:rPr>
              <a:t>Plateforme PHP de gestion pour un serveur de jeu (comptes, boutique, back-office).</a:t>
            </a:r>
            <a:endParaRPr lang="en-US" sz="1150" dirty="0"/>
          </a:p>
        </p:txBody>
      </p:sp>
      <p:sp>
        <p:nvSpPr>
          <p:cNvPr id="8" name="Text 6"/>
          <p:cNvSpPr txBox="1"/>
          <p:nvPr/>
        </p:nvSpPr>
        <p:spPr>
          <a:xfrm>
            <a:off x="914400" y="3337560"/>
            <a:ext cx="4526280" cy="274320"/>
          </a:xfrm>
          <a:prstGeom prst="rect">
            <a:avLst/>
          </a:prstGeom>
          <a:noFill/>
          <a:ln/>
        </p:spPr>
        <p:txBody>
          <a:bodyPr wrap="square" lIns="0" tIns="0" rIns="0" bIns="0" rtlCol="0" anchor="ctr"/>
          <a:lstStyle/>
          <a:p>
            <a:pPr indent="0" marL="0">
              <a:buNone/>
            </a:pPr>
            <a:r>
              <a:rPr lang="en-US" sz="1000" b="1" dirty="0">
                <a:solidFill>
                  <a:srgbClr val="0F1B3D"/>
                </a:solidFill>
                <a:latin typeface="Calibri" pitchFamily="34" charset="0"/>
                <a:ea typeface="Calibri" pitchFamily="34" charset="-122"/>
                <a:cs typeface="Calibri" pitchFamily="34" charset="-120"/>
              </a:rPr>
              <a:t>PHP · MySQL</a:t>
            </a:r>
            <a:endParaRPr lang="en-US" sz="1000" dirty="0"/>
          </a:p>
        </p:txBody>
      </p:sp>
      <p:sp>
        <p:nvSpPr>
          <p:cNvPr id="9" name="Shape 7"/>
          <p:cNvSpPr/>
          <p:nvPr/>
        </p:nvSpPr>
        <p:spPr>
          <a:xfrm>
            <a:off x="6172200" y="1783080"/>
            <a:ext cx="5074920" cy="1874520"/>
          </a:xfrm>
          <a:prstGeom prst="roundRect">
            <a:avLst>
              <a:gd name="adj" fmla="val 3902"/>
            </a:avLst>
          </a:prstGeom>
          <a:solidFill>
            <a:srgbClr val="FFFFFF"/>
          </a:solidFill>
          <a:ln w="12700">
            <a:solidFill>
              <a:srgbClr val="E3E8F3"/>
            </a:solidFill>
            <a:prstDash val="solid"/>
          </a:ln>
        </p:spPr>
      </p:sp>
      <p:sp>
        <p:nvSpPr>
          <p:cNvPr id="10" name="Text 8"/>
          <p:cNvSpPr txBox="1"/>
          <p:nvPr/>
        </p:nvSpPr>
        <p:spPr>
          <a:xfrm>
            <a:off x="6446520" y="1965960"/>
            <a:ext cx="4526280" cy="320040"/>
          </a:xfrm>
          <a:prstGeom prst="rect">
            <a:avLst/>
          </a:prstGeom>
          <a:noFill/>
          <a:ln/>
        </p:spPr>
        <p:txBody>
          <a:bodyPr wrap="square" lIns="0" tIns="0" rIns="0" bIns="0" rtlCol="0" anchor="ctr"/>
          <a:lstStyle/>
          <a:p>
            <a:pPr indent="0" marL="0">
              <a:buNone/>
            </a:pPr>
            <a:r>
              <a:rPr lang="en-US" sz="1550" b="1" dirty="0">
                <a:solidFill>
                  <a:srgbClr val="16223D"/>
                </a:solidFill>
                <a:latin typeface="Cambria" pitchFamily="34" charset="0"/>
                <a:ea typeface="Cambria" pitchFamily="34" charset="-122"/>
                <a:cs typeface="Cambria" pitchFamily="34" charset="-120"/>
              </a:rPr>
              <a:t>GameEsquive</a:t>
            </a:r>
            <a:endParaRPr lang="en-US" sz="1550" dirty="0"/>
          </a:p>
        </p:txBody>
      </p:sp>
      <p:sp>
        <p:nvSpPr>
          <p:cNvPr id="11" name="Text 9"/>
          <p:cNvSpPr txBox="1"/>
          <p:nvPr/>
        </p:nvSpPr>
        <p:spPr>
          <a:xfrm>
            <a:off x="6446520" y="2258568"/>
            <a:ext cx="4526280" cy="274320"/>
          </a:xfrm>
          <a:prstGeom prst="rect">
            <a:avLst/>
          </a:prstGeom>
          <a:noFill/>
          <a:ln/>
        </p:spPr>
        <p:txBody>
          <a:bodyPr wrap="square" lIns="0" tIns="0" rIns="0" bIns="0" rtlCol="0" anchor="ctr"/>
          <a:lstStyle/>
          <a:p>
            <a:pPr indent="0" marL="0">
              <a:buNone/>
            </a:pPr>
            <a:r>
              <a:rPr lang="en-US" sz="1050" b="1" dirty="0">
                <a:solidFill>
                  <a:srgbClr val="2F63E0"/>
                </a:solidFill>
                <a:latin typeface="Calibri" pitchFamily="34" charset="0"/>
                <a:ea typeface="Calibri" pitchFamily="34" charset="-122"/>
                <a:cs typeface="Calibri" pitchFamily="34" charset="-120"/>
              </a:rPr>
              <a:t>Projet Unity — UE3</a:t>
            </a:r>
            <a:endParaRPr lang="en-US" sz="1050" dirty="0"/>
          </a:p>
        </p:txBody>
      </p:sp>
      <p:sp>
        <p:nvSpPr>
          <p:cNvPr id="12" name="Text 10"/>
          <p:cNvSpPr txBox="1"/>
          <p:nvPr/>
        </p:nvSpPr>
        <p:spPr>
          <a:xfrm>
            <a:off x="6446520" y="2560320"/>
            <a:ext cx="4526280" cy="685800"/>
          </a:xfrm>
          <a:prstGeom prst="rect">
            <a:avLst/>
          </a:prstGeom>
          <a:noFill/>
          <a:ln/>
        </p:spPr>
        <p:txBody>
          <a:bodyPr wrap="square" lIns="0" tIns="0" rIns="0" bIns="0" rtlCol="0" anchor="ctr"/>
          <a:lstStyle/>
          <a:p>
            <a:pPr indent="0" marL="0">
              <a:lnSpc>
                <a:spcPct val="115000"/>
              </a:lnSpc>
              <a:buNone/>
            </a:pPr>
            <a:r>
              <a:rPr lang="en-US" sz="1150" dirty="0">
                <a:solidFill>
                  <a:srgbClr val="5B6472"/>
                </a:solidFill>
                <a:latin typeface="Calibri" pitchFamily="34" charset="0"/>
                <a:ea typeface="Calibri" pitchFamily="34" charset="-122"/>
                <a:cs typeface="Calibri" pitchFamily="34" charset="-120"/>
              </a:rPr>
              <a:t>Jeu d'esquive en 3D : éviter des obstacles, collecter des points, score en temps réel.</a:t>
            </a:r>
            <a:endParaRPr lang="en-US" sz="1150" dirty="0"/>
          </a:p>
        </p:txBody>
      </p:sp>
      <p:sp>
        <p:nvSpPr>
          <p:cNvPr id="13" name="Text 11"/>
          <p:cNvSpPr txBox="1"/>
          <p:nvPr/>
        </p:nvSpPr>
        <p:spPr>
          <a:xfrm>
            <a:off x="6446520" y="3337560"/>
            <a:ext cx="4526280" cy="274320"/>
          </a:xfrm>
          <a:prstGeom prst="rect">
            <a:avLst/>
          </a:prstGeom>
          <a:noFill/>
          <a:ln/>
        </p:spPr>
        <p:txBody>
          <a:bodyPr wrap="square" lIns="0" tIns="0" rIns="0" bIns="0" rtlCol="0" anchor="ctr"/>
          <a:lstStyle/>
          <a:p>
            <a:pPr indent="0" marL="0">
              <a:buNone/>
            </a:pPr>
            <a:r>
              <a:rPr lang="en-US" sz="1000" b="1" dirty="0">
                <a:solidFill>
                  <a:srgbClr val="0F1B3D"/>
                </a:solidFill>
                <a:latin typeface="Calibri" pitchFamily="34" charset="0"/>
                <a:ea typeface="Calibri" pitchFamily="34" charset="-122"/>
                <a:cs typeface="Calibri" pitchFamily="34" charset="-120"/>
              </a:rPr>
              <a:t>Unity · C#</a:t>
            </a:r>
            <a:endParaRPr lang="en-US" sz="1000" dirty="0"/>
          </a:p>
        </p:txBody>
      </p:sp>
      <p:sp>
        <p:nvSpPr>
          <p:cNvPr id="14" name="Shape 12"/>
          <p:cNvSpPr/>
          <p:nvPr/>
        </p:nvSpPr>
        <p:spPr>
          <a:xfrm>
            <a:off x="640080" y="3977640"/>
            <a:ext cx="5074920" cy="1874520"/>
          </a:xfrm>
          <a:prstGeom prst="roundRect">
            <a:avLst>
              <a:gd name="adj" fmla="val 3902"/>
            </a:avLst>
          </a:prstGeom>
          <a:solidFill>
            <a:srgbClr val="FFFFFF"/>
          </a:solidFill>
          <a:ln w="12700">
            <a:solidFill>
              <a:srgbClr val="E3E8F3"/>
            </a:solidFill>
            <a:prstDash val="solid"/>
          </a:ln>
        </p:spPr>
      </p:sp>
      <p:sp>
        <p:nvSpPr>
          <p:cNvPr id="15" name="Text 13"/>
          <p:cNvSpPr txBox="1"/>
          <p:nvPr/>
        </p:nvSpPr>
        <p:spPr>
          <a:xfrm>
            <a:off x="914400" y="4160520"/>
            <a:ext cx="4526280" cy="320040"/>
          </a:xfrm>
          <a:prstGeom prst="rect">
            <a:avLst/>
          </a:prstGeom>
          <a:noFill/>
          <a:ln/>
        </p:spPr>
        <p:txBody>
          <a:bodyPr wrap="square" lIns="0" tIns="0" rIns="0" bIns="0" rtlCol="0" anchor="ctr"/>
          <a:lstStyle/>
          <a:p>
            <a:pPr indent="0" marL="0">
              <a:buNone/>
            </a:pPr>
            <a:r>
              <a:rPr lang="en-US" sz="1550" b="1" dirty="0">
                <a:solidFill>
                  <a:srgbClr val="16223D"/>
                </a:solidFill>
                <a:latin typeface="Cambria" pitchFamily="34" charset="0"/>
                <a:ea typeface="Cambria" pitchFamily="34" charset="-122"/>
                <a:cs typeface="Cambria" pitchFamily="34" charset="-120"/>
              </a:rPr>
              <a:t>La Quête du Forgeron</a:t>
            </a:r>
            <a:endParaRPr lang="en-US" sz="1550" dirty="0"/>
          </a:p>
        </p:txBody>
      </p:sp>
      <p:sp>
        <p:nvSpPr>
          <p:cNvPr id="16" name="Text 14"/>
          <p:cNvSpPr txBox="1"/>
          <p:nvPr/>
        </p:nvSpPr>
        <p:spPr>
          <a:xfrm>
            <a:off x="914400" y="4453128"/>
            <a:ext cx="4526280" cy="274320"/>
          </a:xfrm>
          <a:prstGeom prst="rect">
            <a:avLst/>
          </a:prstGeom>
          <a:noFill/>
          <a:ln/>
        </p:spPr>
        <p:txBody>
          <a:bodyPr wrap="square" lIns="0" tIns="0" rIns="0" bIns="0" rtlCol="0" anchor="ctr"/>
          <a:lstStyle/>
          <a:p>
            <a:pPr indent="0" marL="0">
              <a:buNone/>
            </a:pPr>
            <a:r>
              <a:rPr lang="en-US" sz="1050" b="1" dirty="0">
                <a:solidFill>
                  <a:srgbClr val="2F63E0"/>
                </a:solidFill>
                <a:latin typeface="Calibri" pitchFamily="34" charset="0"/>
                <a:ea typeface="Calibri" pitchFamily="34" charset="-122"/>
                <a:cs typeface="Calibri" pitchFamily="34" charset="-120"/>
              </a:rPr>
              <a:t>TP JavaScript</a:t>
            </a:r>
            <a:endParaRPr lang="en-US" sz="1050" dirty="0"/>
          </a:p>
        </p:txBody>
      </p:sp>
      <p:sp>
        <p:nvSpPr>
          <p:cNvPr id="17" name="Text 15"/>
          <p:cNvSpPr txBox="1"/>
          <p:nvPr/>
        </p:nvSpPr>
        <p:spPr>
          <a:xfrm>
            <a:off x="914400" y="4754880"/>
            <a:ext cx="4526280" cy="685800"/>
          </a:xfrm>
          <a:prstGeom prst="rect">
            <a:avLst/>
          </a:prstGeom>
          <a:noFill/>
          <a:ln/>
        </p:spPr>
        <p:txBody>
          <a:bodyPr wrap="square" lIns="0" tIns="0" rIns="0" bIns="0" rtlCol="0" anchor="ctr"/>
          <a:lstStyle/>
          <a:p>
            <a:pPr indent="0" marL="0">
              <a:lnSpc>
                <a:spcPct val="115000"/>
              </a:lnSpc>
              <a:buNone/>
            </a:pPr>
            <a:r>
              <a:rPr lang="en-US" sz="1150" dirty="0">
                <a:solidFill>
                  <a:srgbClr val="5B6472"/>
                </a:solidFill>
                <a:latin typeface="Calibri" pitchFamily="34" charset="0"/>
                <a:ea typeface="Calibri" pitchFamily="34" charset="-122"/>
                <a:cs typeface="Calibri" pitchFamily="34" charset="-120"/>
              </a:rPr>
              <a:t>Jeu d'aventure textuel à embranchements, avec inventaire et plusieurs fins possibles.</a:t>
            </a:r>
            <a:endParaRPr lang="en-US" sz="1150" dirty="0"/>
          </a:p>
        </p:txBody>
      </p:sp>
      <p:sp>
        <p:nvSpPr>
          <p:cNvPr id="18" name="Text 16"/>
          <p:cNvSpPr txBox="1"/>
          <p:nvPr/>
        </p:nvSpPr>
        <p:spPr>
          <a:xfrm>
            <a:off x="914400" y="5532120"/>
            <a:ext cx="4526280" cy="274320"/>
          </a:xfrm>
          <a:prstGeom prst="rect">
            <a:avLst/>
          </a:prstGeom>
          <a:noFill/>
          <a:ln/>
        </p:spPr>
        <p:txBody>
          <a:bodyPr wrap="square" lIns="0" tIns="0" rIns="0" bIns="0" rtlCol="0" anchor="ctr"/>
          <a:lstStyle/>
          <a:p>
            <a:pPr indent="0" marL="0">
              <a:buNone/>
            </a:pPr>
            <a:r>
              <a:rPr lang="en-US" sz="1000" b="1" dirty="0">
                <a:solidFill>
                  <a:srgbClr val="0F1B3D"/>
                </a:solidFill>
                <a:latin typeface="Calibri" pitchFamily="34" charset="0"/>
                <a:ea typeface="Calibri" pitchFamily="34" charset="-122"/>
                <a:cs typeface="Calibri" pitchFamily="34" charset="-120"/>
              </a:rPr>
              <a:t>HTML · CSS · JS</a:t>
            </a:r>
            <a:endParaRPr lang="en-US" sz="1000" dirty="0"/>
          </a:p>
        </p:txBody>
      </p:sp>
      <p:sp>
        <p:nvSpPr>
          <p:cNvPr id="19" name="Shape 17"/>
          <p:cNvSpPr/>
          <p:nvPr/>
        </p:nvSpPr>
        <p:spPr>
          <a:xfrm>
            <a:off x="6172200" y="3977640"/>
            <a:ext cx="5074920" cy="1874520"/>
          </a:xfrm>
          <a:prstGeom prst="roundRect">
            <a:avLst>
              <a:gd name="adj" fmla="val 3902"/>
            </a:avLst>
          </a:prstGeom>
          <a:solidFill>
            <a:srgbClr val="FFFFFF"/>
          </a:solidFill>
          <a:ln w="12700">
            <a:solidFill>
              <a:srgbClr val="E3E8F3"/>
            </a:solidFill>
            <a:prstDash val="solid"/>
          </a:ln>
        </p:spPr>
      </p:sp>
      <p:sp>
        <p:nvSpPr>
          <p:cNvPr id="20" name="Text 18"/>
          <p:cNvSpPr txBox="1"/>
          <p:nvPr/>
        </p:nvSpPr>
        <p:spPr>
          <a:xfrm>
            <a:off x="6446520" y="4160520"/>
            <a:ext cx="4526280" cy="320040"/>
          </a:xfrm>
          <a:prstGeom prst="rect">
            <a:avLst/>
          </a:prstGeom>
          <a:noFill/>
          <a:ln/>
        </p:spPr>
        <p:txBody>
          <a:bodyPr wrap="square" lIns="0" tIns="0" rIns="0" bIns="0" rtlCol="0" anchor="ctr"/>
          <a:lstStyle/>
          <a:p>
            <a:pPr indent="0" marL="0">
              <a:buNone/>
            </a:pPr>
            <a:r>
              <a:rPr lang="en-US" sz="1550" b="1" dirty="0">
                <a:solidFill>
                  <a:srgbClr val="16223D"/>
                </a:solidFill>
                <a:latin typeface="Cambria" pitchFamily="34" charset="0"/>
                <a:ea typeface="Cambria" pitchFamily="34" charset="-122"/>
                <a:cs typeface="Cambria" pitchFamily="34" charset="-120"/>
              </a:rPr>
              <a:t>Premices.dev</a:t>
            </a:r>
            <a:endParaRPr lang="en-US" sz="1550" dirty="0"/>
          </a:p>
        </p:txBody>
      </p:sp>
      <p:sp>
        <p:nvSpPr>
          <p:cNvPr id="21" name="Text 19"/>
          <p:cNvSpPr txBox="1"/>
          <p:nvPr/>
        </p:nvSpPr>
        <p:spPr>
          <a:xfrm>
            <a:off x="6446520" y="4453128"/>
            <a:ext cx="4526280" cy="274320"/>
          </a:xfrm>
          <a:prstGeom prst="rect">
            <a:avLst/>
          </a:prstGeom>
          <a:noFill/>
          <a:ln/>
        </p:spPr>
        <p:txBody>
          <a:bodyPr wrap="square" lIns="0" tIns="0" rIns="0" bIns="0" rtlCol="0" anchor="ctr"/>
          <a:lstStyle/>
          <a:p>
            <a:pPr indent="0" marL="0">
              <a:buNone/>
            </a:pPr>
            <a:r>
              <a:rPr lang="en-US" sz="1050" b="1" dirty="0">
                <a:solidFill>
                  <a:srgbClr val="2F63E0"/>
                </a:solidFill>
                <a:latin typeface="Calibri" pitchFamily="34" charset="0"/>
                <a:ea typeface="Calibri" pitchFamily="34" charset="-122"/>
                <a:cs typeface="Calibri" pitchFamily="34" charset="-120"/>
              </a:rPr>
              <a:t>Projet personnel</a:t>
            </a:r>
            <a:endParaRPr lang="en-US" sz="1050" dirty="0"/>
          </a:p>
        </p:txBody>
      </p:sp>
      <p:sp>
        <p:nvSpPr>
          <p:cNvPr id="22" name="Text 20"/>
          <p:cNvSpPr txBox="1"/>
          <p:nvPr/>
        </p:nvSpPr>
        <p:spPr>
          <a:xfrm>
            <a:off x="6446520" y="4754880"/>
            <a:ext cx="4526280" cy="685800"/>
          </a:xfrm>
          <a:prstGeom prst="rect">
            <a:avLst/>
          </a:prstGeom>
          <a:noFill/>
          <a:ln/>
        </p:spPr>
        <p:txBody>
          <a:bodyPr wrap="square" lIns="0" tIns="0" rIns="0" bIns="0" rtlCol="0" anchor="ctr"/>
          <a:lstStyle/>
          <a:p>
            <a:pPr indent="0" marL="0">
              <a:lnSpc>
                <a:spcPct val="115000"/>
              </a:lnSpc>
              <a:buNone/>
            </a:pPr>
            <a:r>
              <a:rPr lang="en-US" sz="1150" dirty="0">
                <a:solidFill>
                  <a:srgbClr val="5B6472"/>
                </a:solidFill>
                <a:latin typeface="Calibri" pitchFamily="34" charset="0"/>
                <a:ea typeface="Calibri" pitchFamily="34" charset="-122"/>
                <a:cs typeface="Calibri" pitchFamily="34" charset="-120"/>
              </a:rPr>
              <a:t>Site web personnel de présentation, avec formulaire de contact fonctionnel.</a:t>
            </a:r>
            <a:endParaRPr lang="en-US" sz="1150" dirty="0"/>
          </a:p>
        </p:txBody>
      </p:sp>
      <p:sp>
        <p:nvSpPr>
          <p:cNvPr id="23" name="Text 21"/>
          <p:cNvSpPr txBox="1"/>
          <p:nvPr/>
        </p:nvSpPr>
        <p:spPr>
          <a:xfrm>
            <a:off x="6446520" y="5532120"/>
            <a:ext cx="4526280" cy="274320"/>
          </a:xfrm>
          <a:prstGeom prst="rect">
            <a:avLst/>
          </a:prstGeom>
          <a:noFill/>
          <a:ln/>
        </p:spPr>
        <p:txBody>
          <a:bodyPr wrap="square" lIns="0" tIns="0" rIns="0" bIns="0" rtlCol="0" anchor="ctr"/>
          <a:lstStyle/>
          <a:p>
            <a:pPr indent="0" marL="0">
              <a:buNone/>
            </a:pPr>
            <a:r>
              <a:rPr lang="en-US" sz="1000" b="1" dirty="0">
                <a:solidFill>
                  <a:srgbClr val="0F1B3D"/>
                </a:solidFill>
                <a:latin typeface="Calibri" pitchFamily="34" charset="0"/>
                <a:ea typeface="Calibri" pitchFamily="34" charset="-122"/>
                <a:cs typeface="Calibri" pitchFamily="34" charset="-120"/>
              </a:rPr>
              <a:t>HTML · CSS · JS</a:t>
            </a:r>
            <a:endParaRPr lang="en-US" sz="1000" dirty="0"/>
          </a:p>
        </p:txBody>
      </p:sp>
      <p:sp>
        <p:nvSpPr>
          <p:cNvPr id="24" name="Text 2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Portfolio — 1ère année IPSSI</a:t>
            </a:r>
            <a:endParaRPr lang="en-US" sz="1000" dirty="0"/>
          </a:p>
        </p:txBody>
      </p:sp>
      <p:sp>
        <p:nvSpPr>
          <p:cNvPr id="25" name="Text 23"/>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200" b="1" spc="100" kern="0" dirty="0">
                <a:solidFill>
                  <a:srgbClr val="2F63E0"/>
                </a:solidFill>
                <a:latin typeface="Calibri" pitchFamily="34" charset="0"/>
                <a:ea typeface="Calibri" pitchFamily="34" charset="-122"/>
                <a:cs typeface="Calibri" pitchFamily="34" charset="-120"/>
              </a:rPr>
              <a:t>ZOOM PROJET</a:t>
            </a:r>
            <a:endParaRPr lang="en-US" sz="1200" dirty="0"/>
          </a:p>
        </p:txBody>
      </p:sp>
      <p:sp>
        <p:nvSpPr>
          <p:cNvPr id="3" name="Text 1"/>
          <p:cNvSpPr txBox="1"/>
          <p:nvPr/>
        </p:nvSpPr>
        <p:spPr>
          <a:xfrm>
            <a:off x="640080" y="749808"/>
            <a:ext cx="10789920" cy="731520"/>
          </a:xfrm>
          <a:prstGeom prst="rect">
            <a:avLst/>
          </a:prstGeom>
          <a:noFill/>
          <a:ln/>
        </p:spPr>
        <p:txBody>
          <a:bodyPr wrap="square" lIns="0" tIns="0" rIns="0" bIns="0" rtlCol="0" anchor="ctr"/>
          <a:lstStyle/>
          <a:p>
            <a:pPr indent="0" marL="0">
              <a:buNone/>
            </a:pPr>
            <a:r>
              <a:rPr lang="en-US" sz="2800" b="1" dirty="0">
                <a:solidFill>
                  <a:srgbClr val="16223D"/>
                </a:solidFill>
                <a:latin typeface="Cambria" pitchFamily="34" charset="0"/>
                <a:ea typeface="Cambria" pitchFamily="34" charset="-122"/>
                <a:cs typeface="Cambria" pitchFamily="34" charset="-120"/>
              </a:rPr>
              <a:t>GameEsquive — Unity</a:t>
            </a:r>
            <a:endParaRPr lang="en-US" sz="2800" dirty="0"/>
          </a:p>
        </p:txBody>
      </p:sp>
      <p:pic>
        <p:nvPicPr>
          <p:cNvPr id="4" name="Screenshot GameEsquive"/>
          <p:cNvPicPr>
            <a:picLocks noChangeAspect="1"/>
          </p:cNvPicPr>
          <p:nvPr/>
        </p:nvPicPr>
        <p:blipFill>
          <a:blip r:embed="rId3"/>
          <a:stretch>
            <a:fillRect/>
          </a:stretch>
        </p:blipFill>
        <p:spPr>
          <a:xfrm>
            <a:off x="640080" y="2834264"/>
            <a:ext cx="5120640" cy="2286752"/>
          </a:xfrm>
          <a:prstGeom prst="roundRect">
            <a:avLst>
              <a:gd name="adj" fmla="val 3200"/>
            </a:avLst>
          </a:prstGeom>
          <a:ln w="12700">
            <a:solidFill>
              <a:srgbClr val="24345F"/>
            </a:solidFill>
            <a:prstDash val="solid"/>
          </a:ln>
        </p:spPr>
      </p:pic>
      <p:sp>
        <p:nvSpPr>
          <p:cNvPr id="13" name="Text 11"/>
          <p:cNvSpPr txBox="1"/>
          <p:nvPr/>
        </p:nvSpPr>
        <p:spPr>
          <a:xfrm>
            <a:off x="6035040" y="1874520"/>
            <a:ext cx="5486400" cy="274320"/>
          </a:xfrm>
          <a:prstGeom prst="rect">
            <a:avLst/>
          </a:prstGeom>
          <a:noFill/>
          <a:ln/>
        </p:spPr>
        <p:txBody>
          <a:bodyPr wrap="square" lIns="0" tIns="0" rIns="0" bIns="0" rtlCol="0" anchor="ctr"/>
          <a:lstStyle/>
          <a:p>
            <a:pPr indent="0" marL="0">
              <a:buNone/>
            </a:pPr>
            <a:r>
              <a:rPr lang="en-US" sz="1100" b="1" spc="100" kern="0" dirty="0">
                <a:solidFill>
                  <a:srgbClr val="2F63E0"/>
                </a:solidFill>
                <a:latin typeface="Calibri" pitchFamily="34" charset="0"/>
                <a:ea typeface="Calibri" pitchFamily="34" charset="-122"/>
                <a:cs typeface="Calibri" pitchFamily="34" charset="-120"/>
              </a:rPr>
              <a:t>Contexte</a:t>
            </a:r>
            <a:endParaRPr lang="en-US" sz="1100" dirty="0"/>
          </a:p>
        </p:txBody>
      </p:sp>
      <p:sp>
        <p:nvSpPr>
          <p:cNvPr id="14" name="Text 12"/>
          <p:cNvSpPr txBox="1"/>
          <p:nvPr/>
        </p:nvSpPr>
        <p:spPr>
          <a:xfrm>
            <a:off x="6035040" y="2148840"/>
            <a:ext cx="5486400" cy="548640"/>
          </a:xfrm>
          <a:prstGeom prst="rect">
            <a:avLst/>
          </a:prstGeom>
          <a:noFill/>
          <a:ln/>
        </p:spPr>
        <p:txBody>
          <a:bodyPr wrap="square" lIns="0" tIns="0" rIns="0" bIns="0" rtlCol="0" anchor="ctr"/>
          <a:lstStyle/>
          <a:p>
            <a:pPr indent="0" marL="0">
              <a:lnSpc>
                <a:spcPct val="115000"/>
              </a:lnSpc>
              <a:buNone/>
            </a:pPr>
            <a:r>
              <a:rPr lang="en-US" sz="1250" dirty="0">
                <a:solidFill>
                  <a:srgbClr val="16223D"/>
                </a:solidFill>
                <a:latin typeface="Calibri" pitchFamily="34" charset="0"/>
                <a:ea typeface="Calibri" pitchFamily="34" charset="-122"/>
                <a:cs typeface="Calibri" pitchFamily="34" charset="-120"/>
              </a:rPr>
              <a:t>Projet réalisé dans le cadre de l'UE3 — Unity, consacrée au développement de jeux vidéo.</a:t>
            </a:r>
            <a:endParaRPr lang="en-US" sz="1250" dirty="0"/>
          </a:p>
        </p:txBody>
      </p:sp>
      <p:sp>
        <p:nvSpPr>
          <p:cNvPr id="15" name="Text 13"/>
          <p:cNvSpPr txBox="1"/>
          <p:nvPr/>
        </p:nvSpPr>
        <p:spPr>
          <a:xfrm>
            <a:off x="6035040" y="2788920"/>
            <a:ext cx="5486400" cy="274320"/>
          </a:xfrm>
          <a:prstGeom prst="rect">
            <a:avLst/>
          </a:prstGeom>
          <a:noFill/>
          <a:ln/>
        </p:spPr>
        <p:txBody>
          <a:bodyPr wrap="square" lIns="0" tIns="0" rIns="0" bIns="0" rtlCol="0" anchor="ctr"/>
          <a:lstStyle/>
          <a:p>
            <a:pPr indent="0" marL="0">
              <a:buNone/>
            </a:pPr>
            <a:r>
              <a:rPr lang="en-US" sz="1100" b="1" spc="100" kern="0" dirty="0">
                <a:solidFill>
                  <a:srgbClr val="2F63E0"/>
                </a:solidFill>
                <a:latin typeface="Calibri" pitchFamily="34" charset="0"/>
                <a:ea typeface="Calibri" pitchFamily="34" charset="-122"/>
                <a:cs typeface="Calibri" pitchFamily="34" charset="-120"/>
              </a:rPr>
              <a:t>Principe du jeu</a:t>
            </a:r>
            <a:endParaRPr lang="en-US" sz="1100" dirty="0"/>
          </a:p>
        </p:txBody>
      </p:sp>
      <p:sp>
        <p:nvSpPr>
          <p:cNvPr id="16" name="Text 14"/>
          <p:cNvSpPr txBox="1"/>
          <p:nvPr/>
        </p:nvSpPr>
        <p:spPr>
          <a:xfrm>
            <a:off x="6035040" y="3063240"/>
            <a:ext cx="5486400" cy="1188720"/>
          </a:xfrm>
          <a:prstGeom prst="rect">
            <a:avLst/>
          </a:prstGeom>
          <a:noFill/>
          <a:ln/>
        </p:spPr>
        <p:txBody>
          <a:bodyPr wrap="square" lIns="0" tIns="0" rIns="0" bIns="0" rtlCol="0" anchor="ctr"/>
          <a:lstStyle/>
          <a:p>
            <a:pPr indent="0" marL="0">
              <a:lnSpc>
                <a:spcPct val="115000"/>
              </a:lnSpc>
              <a:buNone/>
            </a:pPr>
            <a:r>
              <a:rPr lang="en-US" sz="1250" dirty="0">
                <a:solidFill>
                  <a:srgbClr val="16223D"/>
                </a:solidFill>
                <a:latin typeface="Calibri" pitchFamily="34" charset="0"/>
                <a:ea typeface="Calibri" pitchFamily="34" charset="-122"/>
                <a:cs typeface="Calibri" pitchFamily="34" charset="-120"/>
              </a:rPr>
              <a:t>Un jeu de survie en 3D : le joueur se déplace (ZQSD / flèches) pour éviter des obstacles générés aléatoirement, tout en collectant des objets qui rapportent des points. Score et distance parcourue s'affichent en temps réel, jusqu'à l'écran de fin de partie.</a:t>
            </a:r>
            <a:endParaRPr lang="en-US" sz="1250" dirty="0"/>
          </a:p>
        </p:txBody>
      </p:sp>
      <p:sp>
        <p:nvSpPr>
          <p:cNvPr id="17" name="Text 15"/>
          <p:cNvSpPr txBox="1"/>
          <p:nvPr/>
        </p:nvSpPr>
        <p:spPr>
          <a:xfrm>
            <a:off x="6035040" y="4343400"/>
            <a:ext cx="5486400" cy="274320"/>
          </a:xfrm>
          <a:prstGeom prst="rect">
            <a:avLst/>
          </a:prstGeom>
          <a:noFill/>
          <a:ln/>
        </p:spPr>
        <p:txBody>
          <a:bodyPr wrap="square" lIns="0" tIns="0" rIns="0" bIns="0" rtlCol="0" anchor="ctr"/>
          <a:lstStyle/>
          <a:p>
            <a:pPr indent="0" marL="0">
              <a:buNone/>
            </a:pPr>
            <a:r>
              <a:rPr lang="en-US" sz="1100" b="1" spc="100" kern="0" dirty="0">
                <a:solidFill>
                  <a:srgbClr val="2F63E0"/>
                </a:solidFill>
                <a:latin typeface="Calibri" pitchFamily="34" charset="0"/>
                <a:ea typeface="Calibri" pitchFamily="34" charset="-122"/>
                <a:cs typeface="Calibri" pitchFamily="34" charset="-120"/>
              </a:rPr>
              <a:t>Ce que j'ai mis en œuvre</a:t>
            </a:r>
            <a:endParaRPr lang="en-US" sz="1100" dirty="0"/>
          </a:p>
        </p:txBody>
      </p:sp>
      <p:sp>
        <p:nvSpPr>
          <p:cNvPr id="18" name="Shape 16"/>
          <p:cNvSpPr/>
          <p:nvPr/>
        </p:nvSpPr>
        <p:spPr>
          <a:xfrm>
            <a:off x="6080760" y="4681728"/>
            <a:ext cx="82296" cy="82296"/>
          </a:xfrm>
          <a:prstGeom prst="ellipse">
            <a:avLst/>
          </a:prstGeom>
          <a:solidFill>
            <a:srgbClr val="2F63E0"/>
          </a:solidFill>
          <a:ln/>
        </p:spPr>
      </p:sp>
      <p:sp>
        <p:nvSpPr>
          <p:cNvPr id="19" name="Text 17"/>
          <p:cNvSpPr txBox="1"/>
          <p:nvPr/>
        </p:nvSpPr>
        <p:spPr>
          <a:xfrm>
            <a:off x="6263640" y="4572000"/>
            <a:ext cx="5120640" cy="320040"/>
          </a:xfrm>
          <a:prstGeom prst="rect">
            <a:avLst/>
          </a:prstGeom>
          <a:noFill/>
          <a:ln/>
        </p:spPr>
        <p:txBody>
          <a:bodyPr wrap="square" lIns="0" tIns="0" rIns="0" bIns="0" rtlCol="0" anchor="ctr"/>
          <a:lstStyle/>
          <a:p>
            <a:pPr indent="0" marL="0">
              <a:buNone/>
            </a:pPr>
            <a:r>
              <a:rPr lang="en-US" sz="1200" dirty="0">
                <a:solidFill>
                  <a:srgbClr val="16223D"/>
                </a:solidFill>
                <a:latin typeface="Calibri" pitchFamily="34" charset="0"/>
                <a:ea typeface="Calibri" pitchFamily="34" charset="-122"/>
                <a:cs typeface="Calibri" pitchFamily="34" charset="-120"/>
              </a:rPr>
              <a:t>Génération procédurale d'obstacles (Spawner)</a:t>
            </a:r>
            <a:endParaRPr lang="en-US" sz="1200" dirty="0"/>
          </a:p>
        </p:txBody>
      </p:sp>
      <p:sp>
        <p:nvSpPr>
          <p:cNvPr id="20" name="Shape 18"/>
          <p:cNvSpPr/>
          <p:nvPr/>
        </p:nvSpPr>
        <p:spPr>
          <a:xfrm>
            <a:off x="6080760" y="5065776"/>
            <a:ext cx="82296" cy="82296"/>
          </a:xfrm>
          <a:prstGeom prst="ellipse">
            <a:avLst/>
          </a:prstGeom>
          <a:solidFill>
            <a:srgbClr val="2F63E0"/>
          </a:solidFill>
          <a:ln/>
        </p:spPr>
      </p:sp>
      <p:sp>
        <p:nvSpPr>
          <p:cNvPr id="21" name="Text 19"/>
          <p:cNvSpPr txBox="1"/>
          <p:nvPr/>
        </p:nvSpPr>
        <p:spPr>
          <a:xfrm>
            <a:off x="6263640" y="4956048"/>
            <a:ext cx="5120640" cy="320040"/>
          </a:xfrm>
          <a:prstGeom prst="rect">
            <a:avLst/>
          </a:prstGeom>
          <a:noFill/>
          <a:ln/>
        </p:spPr>
        <p:txBody>
          <a:bodyPr wrap="square" lIns="0" tIns="0" rIns="0" bIns="0" rtlCol="0" anchor="ctr"/>
          <a:lstStyle/>
          <a:p>
            <a:pPr indent="0" marL="0">
              <a:buNone/>
            </a:pPr>
            <a:r>
              <a:rPr lang="en-US" sz="1200" dirty="0">
                <a:solidFill>
                  <a:srgbClr val="16223D"/>
                </a:solidFill>
                <a:latin typeface="Calibri" pitchFamily="34" charset="0"/>
                <a:ea typeface="Calibri" pitchFamily="34" charset="-122"/>
                <a:cs typeface="Calibri" pitchFamily="34" charset="-120"/>
              </a:rPr>
              <a:t>Gestion des collisions et du score</a:t>
            </a:r>
            <a:endParaRPr lang="en-US" sz="1200" dirty="0"/>
          </a:p>
        </p:txBody>
      </p:sp>
      <p:sp>
        <p:nvSpPr>
          <p:cNvPr id="22" name="Shape 20"/>
          <p:cNvSpPr/>
          <p:nvPr/>
        </p:nvSpPr>
        <p:spPr>
          <a:xfrm>
            <a:off x="6080760" y="5449824"/>
            <a:ext cx="82296" cy="82296"/>
          </a:xfrm>
          <a:prstGeom prst="ellipse">
            <a:avLst/>
          </a:prstGeom>
          <a:solidFill>
            <a:srgbClr val="2F63E0"/>
          </a:solidFill>
          <a:ln/>
        </p:spPr>
      </p:sp>
      <p:sp>
        <p:nvSpPr>
          <p:cNvPr id="23" name="Text 21"/>
          <p:cNvSpPr txBox="1"/>
          <p:nvPr/>
        </p:nvSpPr>
        <p:spPr>
          <a:xfrm>
            <a:off x="6263640" y="5340096"/>
            <a:ext cx="5120640" cy="320040"/>
          </a:xfrm>
          <a:prstGeom prst="rect">
            <a:avLst/>
          </a:prstGeom>
          <a:noFill/>
          <a:ln/>
        </p:spPr>
        <p:txBody>
          <a:bodyPr wrap="square" lIns="0" tIns="0" rIns="0" bIns="0" rtlCol="0" anchor="ctr"/>
          <a:lstStyle/>
          <a:p>
            <a:pPr indent="0" marL="0">
              <a:buNone/>
            </a:pPr>
            <a:r>
              <a:rPr lang="en-US" sz="1200" dirty="0">
                <a:solidFill>
                  <a:srgbClr val="16223D"/>
                </a:solidFill>
                <a:latin typeface="Calibri" pitchFamily="34" charset="0"/>
                <a:ea typeface="Calibri" pitchFamily="34" charset="-122"/>
                <a:cs typeface="Calibri" pitchFamily="34" charset="-120"/>
              </a:rPr>
              <a:t>Architecture en singleton (GameManager)</a:t>
            </a:r>
            <a:endParaRPr lang="en-US" sz="1200" dirty="0"/>
          </a:p>
        </p:txBody>
      </p:sp>
      <p:sp>
        <p:nvSpPr>
          <p:cNvPr id="24" name="Text 2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Portfolio — 1ère année IPSSI</a:t>
            </a:r>
            <a:endParaRPr lang="en-US" sz="1000" dirty="0"/>
          </a:p>
        </p:txBody>
      </p:sp>
      <p:sp>
        <p:nvSpPr>
          <p:cNvPr id="25" name="Text 23"/>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200" b="1" spc="100" kern="0" dirty="0">
                <a:solidFill>
                  <a:srgbClr val="2F63E0"/>
                </a:solidFill>
                <a:latin typeface="Calibri" pitchFamily="34" charset="0"/>
                <a:ea typeface="Calibri" pitchFamily="34" charset="-122"/>
                <a:cs typeface="Calibri" pitchFamily="34" charset="-120"/>
              </a:rPr>
              <a:t>ZOOM PROJET</a:t>
            </a:r>
            <a:endParaRPr lang="en-US" sz="1200" dirty="0"/>
          </a:p>
        </p:txBody>
      </p:sp>
      <p:sp>
        <p:nvSpPr>
          <p:cNvPr id="3" name="Text 1"/>
          <p:cNvSpPr txBox="1"/>
          <p:nvPr/>
        </p:nvSpPr>
        <p:spPr>
          <a:xfrm>
            <a:off x="640080" y="749808"/>
            <a:ext cx="10789920" cy="731520"/>
          </a:xfrm>
          <a:prstGeom prst="rect">
            <a:avLst/>
          </a:prstGeom>
          <a:noFill/>
          <a:ln/>
        </p:spPr>
        <p:txBody>
          <a:bodyPr wrap="square" lIns="0" tIns="0" rIns="0" bIns="0" rtlCol="0" anchor="ctr"/>
          <a:lstStyle/>
          <a:p>
            <a:pPr indent="0" marL="0">
              <a:buNone/>
            </a:pPr>
            <a:r>
              <a:rPr lang="en-US" sz="2800" b="1" dirty="0">
                <a:solidFill>
                  <a:srgbClr val="16223D"/>
                </a:solidFill>
                <a:latin typeface="Cambria" pitchFamily="34" charset="0"/>
                <a:ea typeface="Cambria" pitchFamily="34" charset="-122"/>
                <a:cs typeface="Cambria" pitchFamily="34" charset="-120"/>
              </a:rPr>
              <a:t>La Quête du Forgeron — TP JavaScript</a:t>
            </a:r>
            <a:endParaRPr lang="en-US" sz="2800" dirty="0"/>
          </a:p>
        </p:txBody>
      </p:sp>
      <p:pic>
        <p:nvPicPr>
          <p:cNvPr id="4" name="Screenshot La Quete du Forgeron"/>
          <p:cNvPicPr>
            <a:picLocks noChangeAspect="1"/>
          </p:cNvPicPr>
          <p:nvPr/>
        </p:nvPicPr>
        <p:blipFill>
          <a:blip r:embed="rId3"/>
          <a:stretch>
            <a:fillRect/>
          </a:stretch>
        </p:blipFill>
        <p:spPr>
          <a:xfrm>
            <a:off x="640080" y="1874520"/>
            <a:ext cx="5120640" cy="4206240"/>
          </a:xfrm>
          <a:prstGeom prst="roundRect">
            <a:avLst>
              <a:gd name="adj" fmla="val 1739"/>
            </a:avLst>
          </a:prstGeom>
          <a:ln w="12700">
            <a:solidFill>
              <a:srgbClr val="D7DEEC"/>
            </a:solidFill>
            <a:prstDash val="solid"/>
          </a:ln>
        </p:spPr>
      </p:pic>
      <p:sp>
        <p:nvSpPr>
          <p:cNvPr id="16" name="Text 14"/>
          <p:cNvSpPr txBox="1"/>
          <p:nvPr/>
        </p:nvSpPr>
        <p:spPr>
          <a:xfrm>
            <a:off x="6035040" y="1874520"/>
            <a:ext cx="5486400" cy="274320"/>
          </a:xfrm>
          <a:prstGeom prst="rect">
            <a:avLst/>
          </a:prstGeom>
          <a:noFill/>
          <a:ln/>
        </p:spPr>
        <p:txBody>
          <a:bodyPr wrap="square" lIns="0" tIns="0" rIns="0" bIns="0" rtlCol="0" anchor="ctr"/>
          <a:lstStyle/>
          <a:p>
            <a:pPr indent="0" marL="0">
              <a:buNone/>
            </a:pPr>
            <a:r>
              <a:rPr lang="en-US" sz="1100" b="1" spc="100" kern="0" dirty="0">
                <a:solidFill>
                  <a:srgbClr val="2F63E0"/>
                </a:solidFill>
                <a:latin typeface="Calibri" pitchFamily="34" charset="0"/>
                <a:ea typeface="Calibri" pitchFamily="34" charset="-122"/>
                <a:cs typeface="Calibri" pitchFamily="34" charset="-120"/>
              </a:rPr>
              <a:t>Contexte</a:t>
            </a:r>
            <a:endParaRPr lang="en-US" sz="1100" dirty="0"/>
          </a:p>
        </p:txBody>
      </p:sp>
      <p:sp>
        <p:nvSpPr>
          <p:cNvPr id="17" name="Text 15"/>
          <p:cNvSpPr txBox="1"/>
          <p:nvPr/>
        </p:nvSpPr>
        <p:spPr>
          <a:xfrm>
            <a:off x="6035040" y="2148840"/>
            <a:ext cx="5486400" cy="457200"/>
          </a:xfrm>
          <a:prstGeom prst="rect">
            <a:avLst/>
          </a:prstGeom>
          <a:noFill/>
          <a:ln/>
        </p:spPr>
        <p:txBody>
          <a:bodyPr wrap="square" lIns="0" tIns="0" rIns="0" bIns="0" rtlCol="0" anchor="ctr"/>
          <a:lstStyle/>
          <a:p>
            <a:pPr indent="0" marL="0">
              <a:buNone/>
            </a:pPr>
            <a:r>
              <a:rPr lang="en-US" sz="1250" dirty="0">
                <a:solidFill>
                  <a:srgbClr val="16223D"/>
                </a:solidFill>
                <a:latin typeface="Calibri" pitchFamily="34" charset="0"/>
                <a:ea typeface="Calibri" pitchFamily="34" charset="-122"/>
                <a:cs typeface="Calibri" pitchFamily="34" charset="-120"/>
              </a:rPr>
              <a:t>TP réalisé dans le cadre du module Développement Web avec JavaScript (UE1).</a:t>
            </a:r>
            <a:endParaRPr lang="en-US" sz="1250" dirty="0"/>
          </a:p>
        </p:txBody>
      </p:sp>
      <p:sp>
        <p:nvSpPr>
          <p:cNvPr id="18" name="Text 16"/>
          <p:cNvSpPr txBox="1"/>
          <p:nvPr/>
        </p:nvSpPr>
        <p:spPr>
          <a:xfrm>
            <a:off x="6035040" y="2697480"/>
            <a:ext cx="5486400" cy="274320"/>
          </a:xfrm>
          <a:prstGeom prst="rect">
            <a:avLst/>
          </a:prstGeom>
          <a:noFill/>
          <a:ln/>
        </p:spPr>
        <p:txBody>
          <a:bodyPr wrap="square" lIns="0" tIns="0" rIns="0" bIns="0" rtlCol="0" anchor="ctr"/>
          <a:lstStyle/>
          <a:p>
            <a:pPr indent="0" marL="0">
              <a:buNone/>
            </a:pPr>
            <a:r>
              <a:rPr lang="en-US" sz="1100" b="1" spc="100" kern="0" dirty="0">
                <a:solidFill>
                  <a:srgbClr val="2F63E0"/>
                </a:solidFill>
                <a:latin typeface="Calibri" pitchFamily="34" charset="0"/>
                <a:ea typeface="Calibri" pitchFamily="34" charset="-122"/>
                <a:cs typeface="Calibri" pitchFamily="34" charset="-120"/>
              </a:rPr>
              <a:t>Principe du jeu</a:t>
            </a:r>
            <a:endParaRPr lang="en-US" sz="1100" dirty="0"/>
          </a:p>
        </p:txBody>
      </p:sp>
      <p:sp>
        <p:nvSpPr>
          <p:cNvPr id="19" name="Text 17"/>
          <p:cNvSpPr txBox="1"/>
          <p:nvPr/>
        </p:nvSpPr>
        <p:spPr>
          <a:xfrm>
            <a:off x="6035040" y="2971800"/>
            <a:ext cx="5486400" cy="1371600"/>
          </a:xfrm>
          <a:prstGeom prst="rect">
            <a:avLst/>
          </a:prstGeom>
          <a:noFill/>
          <a:ln/>
        </p:spPr>
        <p:txBody>
          <a:bodyPr wrap="square" lIns="0" tIns="0" rIns="0" bIns="0" rtlCol="0" anchor="ctr"/>
          <a:lstStyle/>
          <a:p>
            <a:pPr indent="0" marL="0">
              <a:lnSpc>
                <a:spcPct val="115000"/>
              </a:lnSpc>
              <a:buNone/>
            </a:pPr>
            <a:r>
              <a:rPr lang="en-US" sz="1250" dirty="0">
                <a:solidFill>
                  <a:srgbClr val="16223D"/>
                </a:solidFill>
                <a:latin typeface="Calibri" pitchFamily="34" charset="0"/>
                <a:ea typeface="Calibri" pitchFamily="34" charset="-122"/>
                <a:cs typeface="Calibri" pitchFamily="34" charset="-120"/>
              </a:rPr>
              <a:t>Un jeu d'aventure textuel : le héros part délivrer la fille d'un forgeron enlevée par un ogre. Le joueur progresse de scène en scène (forêt, tour, caverne...) en faisant des choix qui influencent l'histoire, collecte des objets dans un inventaire, et peut atteindre plusieurs fins différentes.</a:t>
            </a:r>
            <a:endParaRPr lang="en-US" sz="1250" dirty="0"/>
          </a:p>
        </p:txBody>
      </p:sp>
      <p:sp>
        <p:nvSpPr>
          <p:cNvPr id="20" name="Text 18"/>
          <p:cNvSpPr txBox="1"/>
          <p:nvPr/>
        </p:nvSpPr>
        <p:spPr>
          <a:xfrm>
            <a:off x="6035040" y="4480560"/>
            <a:ext cx="5486400" cy="274320"/>
          </a:xfrm>
          <a:prstGeom prst="rect">
            <a:avLst/>
          </a:prstGeom>
          <a:noFill/>
          <a:ln/>
        </p:spPr>
        <p:txBody>
          <a:bodyPr wrap="square" lIns="0" tIns="0" rIns="0" bIns="0" rtlCol="0" anchor="ctr"/>
          <a:lstStyle/>
          <a:p>
            <a:pPr indent="0" marL="0">
              <a:buNone/>
            </a:pPr>
            <a:r>
              <a:rPr lang="en-US" sz="1100" b="1" spc="100" kern="0" dirty="0">
                <a:solidFill>
                  <a:srgbClr val="2F63E0"/>
                </a:solidFill>
                <a:latin typeface="Calibri" pitchFamily="34" charset="0"/>
                <a:ea typeface="Calibri" pitchFamily="34" charset="-122"/>
                <a:cs typeface="Calibri" pitchFamily="34" charset="-120"/>
              </a:rPr>
              <a:t>Ce que j'ai mis en œuvre</a:t>
            </a:r>
            <a:endParaRPr lang="en-US" sz="1100" dirty="0"/>
          </a:p>
        </p:txBody>
      </p:sp>
      <p:sp>
        <p:nvSpPr>
          <p:cNvPr id="21" name="Shape 19"/>
          <p:cNvSpPr/>
          <p:nvPr/>
        </p:nvSpPr>
        <p:spPr>
          <a:xfrm>
            <a:off x="6080760" y="4818888"/>
            <a:ext cx="82296" cy="82296"/>
          </a:xfrm>
          <a:prstGeom prst="ellipse">
            <a:avLst/>
          </a:prstGeom>
          <a:solidFill>
            <a:srgbClr val="2F63E0"/>
          </a:solidFill>
          <a:ln/>
        </p:spPr>
      </p:sp>
      <p:sp>
        <p:nvSpPr>
          <p:cNvPr id="22" name="Text 20"/>
          <p:cNvSpPr txBox="1"/>
          <p:nvPr/>
        </p:nvSpPr>
        <p:spPr>
          <a:xfrm>
            <a:off x="6263640" y="4709160"/>
            <a:ext cx="5120640" cy="320040"/>
          </a:xfrm>
          <a:prstGeom prst="rect">
            <a:avLst/>
          </a:prstGeom>
          <a:noFill/>
          <a:ln/>
        </p:spPr>
        <p:txBody>
          <a:bodyPr wrap="square" lIns="0" tIns="0" rIns="0" bIns="0" rtlCol="0" anchor="ctr"/>
          <a:lstStyle/>
          <a:p>
            <a:pPr indent="0" marL="0">
              <a:buNone/>
            </a:pPr>
            <a:r>
              <a:rPr lang="en-US" sz="1200" dirty="0">
                <a:solidFill>
                  <a:srgbClr val="16223D"/>
                </a:solidFill>
                <a:latin typeface="Calibri" pitchFamily="34" charset="0"/>
                <a:ea typeface="Calibri" pitchFamily="34" charset="-122"/>
                <a:cs typeface="Calibri" pitchFamily="34" charset="-120"/>
              </a:rPr>
              <a:t>Manipulation du DOM (texte, image, choix dynamiques)</a:t>
            </a:r>
            <a:endParaRPr lang="en-US" sz="1200" dirty="0"/>
          </a:p>
        </p:txBody>
      </p:sp>
      <p:sp>
        <p:nvSpPr>
          <p:cNvPr id="23" name="Shape 21"/>
          <p:cNvSpPr/>
          <p:nvPr/>
        </p:nvSpPr>
        <p:spPr>
          <a:xfrm>
            <a:off x="6080760" y="5202936"/>
            <a:ext cx="82296" cy="82296"/>
          </a:xfrm>
          <a:prstGeom prst="ellipse">
            <a:avLst/>
          </a:prstGeom>
          <a:solidFill>
            <a:srgbClr val="2F63E0"/>
          </a:solidFill>
          <a:ln/>
        </p:spPr>
      </p:sp>
      <p:sp>
        <p:nvSpPr>
          <p:cNvPr id="24" name="Text 22"/>
          <p:cNvSpPr txBox="1"/>
          <p:nvPr/>
        </p:nvSpPr>
        <p:spPr>
          <a:xfrm>
            <a:off x="6263640" y="5093208"/>
            <a:ext cx="5120640" cy="320040"/>
          </a:xfrm>
          <a:prstGeom prst="rect">
            <a:avLst/>
          </a:prstGeom>
          <a:noFill/>
          <a:ln/>
        </p:spPr>
        <p:txBody>
          <a:bodyPr wrap="square" lIns="0" tIns="0" rIns="0" bIns="0" rtlCol="0" anchor="ctr"/>
          <a:lstStyle/>
          <a:p>
            <a:pPr indent="0" marL="0">
              <a:buNone/>
            </a:pPr>
            <a:r>
              <a:rPr lang="en-US" sz="1200" dirty="0">
                <a:solidFill>
                  <a:srgbClr val="16223D"/>
                </a:solidFill>
                <a:latin typeface="Calibri" pitchFamily="34" charset="0"/>
                <a:ea typeface="Calibri" pitchFamily="34" charset="-122"/>
                <a:cs typeface="Calibri" pitchFamily="34" charset="-120"/>
              </a:rPr>
              <a:t>Gestion d'un inventaire (état du jeu)</a:t>
            </a:r>
            <a:endParaRPr lang="en-US" sz="1200" dirty="0"/>
          </a:p>
        </p:txBody>
      </p:sp>
      <p:sp>
        <p:nvSpPr>
          <p:cNvPr id="25" name="Shape 23"/>
          <p:cNvSpPr/>
          <p:nvPr/>
        </p:nvSpPr>
        <p:spPr>
          <a:xfrm>
            <a:off x="6080760" y="5586984"/>
            <a:ext cx="82296" cy="82296"/>
          </a:xfrm>
          <a:prstGeom prst="ellipse">
            <a:avLst/>
          </a:prstGeom>
          <a:solidFill>
            <a:srgbClr val="2F63E0"/>
          </a:solidFill>
          <a:ln/>
        </p:spPr>
      </p:sp>
      <p:sp>
        <p:nvSpPr>
          <p:cNvPr id="26" name="Text 24"/>
          <p:cNvSpPr txBox="1"/>
          <p:nvPr/>
        </p:nvSpPr>
        <p:spPr>
          <a:xfrm>
            <a:off x="6263640" y="5477256"/>
            <a:ext cx="5120640" cy="320040"/>
          </a:xfrm>
          <a:prstGeom prst="rect">
            <a:avLst/>
          </a:prstGeom>
          <a:noFill/>
          <a:ln/>
        </p:spPr>
        <p:txBody>
          <a:bodyPr wrap="square" lIns="0" tIns="0" rIns="0" bIns="0" rtlCol="0" anchor="ctr"/>
          <a:lstStyle/>
          <a:p>
            <a:pPr indent="0" marL="0">
              <a:buNone/>
            </a:pPr>
            <a:r>
              <a:rPr lang="en-US" sz="1200" dirty="0">
                <a:solidFill>
                  <a:srgbClr val="16223D"/>
                </a:solidFill>
                <a:latin typeface="Calibri" pitchFamily="34" charset="0"/>
                <a:ea typeface="Calibri" pitchFamily="34" charset="-122"/>
                <a:cs typeface="Calibri" pitchFamily="34" charset="-120"/>
              </a:rPr>
              <a:t>Scénario à embranchements avec plusieurs fins</a:t>
            </a:r>
            <a:endParaRPr lang="en-US" sz="1200" dirty="0"/>
          </a:p>
        </p:txBody>
      </p:sp>
      <p:sp>
        <p:nvSpPr>
          <p:cNvPr id="27" name="Text 25"/>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Portfolio — 1ère année IPSSI</a:t>
            </a:r>
            <a:endParaRPr lang="en-US" sz="1000" dirty="0"/>
          </a:p>
        </p:txBody>
      </p:sp>
      <p:sp>
        <p:nvSpPr>
          <p:cNvPr id="28" name="Text 26"/>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3D"/>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indent="0" marL="0">
              <a:buNone/>
            </a:pPr>
            <a:r>
              <a:rPr lang="en-US" sz="1200" b="1" spc="100" kern="0" dirty="0">
                <a:solidFill>
                  <a:srgbClr val="E8EEFC"/>
                </a:solidFill>
                <a:latin typeface="Calibri" pitchFamily="34" charset="0"/>
                <a:ea typeface="Calibri" pitchFamily="34" charset="-122"/>
                <a:cs typeface="Calibri" pitchFamily="34" charset="-120"/>
              </a:rPr>
              <a:t>PERSPECTIVES</a:t>
            </a:r>
            <a:endParaRPr lang="en-US" sz="1200" dirty="0"/>
          </a:p>
        </p:txBody>
      </p:sp>
      <p:sp>
        <p:nvSpPr>
          <p:cNvPr id="3" name="Text 1"/>
          <p:cNvSpPr txBox="1"/>
          <p:nvPr/>
        </p:nvSpPr>
        <p:spPr>
          <a:xfrm>
            <a:off x="640080" y="749808"/>
            <a:ext cx="10789920" cy="7315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Mon projet professionnel</a:t>
            </a:r>
            <a:endParaRPr lang="en-US" sz="2800" dirty="0"/>
          </a:p>
        </p:txBody>
      </p:sp>
      <p:sp>
        <p:nvSpPr>
          <p:cNvPr id="4" name="Shape 2"/>
          <p:cNvSpPr/>
          <p:nvPr/>
        </p:nvSpPr>
        <p:spPr>
          <a:xfrm>
            <a:off x="640080" y="1920240"/>
            <a:ext cx="10881360" cy="1645920"/>
          </a:xfrm>
          <a:prstGeom prst="roundRect">
            <a:avLst>
              <a:gd name="adj" fmla="val 4444"/>
            </a:avLst>
          </a:prstGeom>
          <a:solidFill>
            <a:srgbClr val="16234B"/>
          </a:solidFill>
          <a:ln w="12700">
            <a:solidFill>
              <a:srgbClr val="24345F"/>
            </a:solidFill>
            <a:prstDash val="solid"/>
          </a:ln>
        </p:spPr>
      </p:sp>
      <p:sp>
        <p:nvSpPr>
          <p:cNvPr id="5" name="Text 3"/>
          <p:cNvSpPr txBox="1"/>
          <p:nvPr/>
        </p:nvSpPr>
        <p:spPr>
          <a:xfrm>
            <a:off x="914400" y="2148840"/>
            <a:ext cx="1024128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Une direction claire : l'intelligence artificielle</a:t>
            </a:r>
            <a:endParaRPr lang="en-US" sz="1600" dirty="0"/>
          </a:p>
        </p:txBody>
      </p:sp>
      <p:sp>
        <p:nvSpPr>
          <p:cNvPr id="6" name="Text 4"/>
          <p:cNvSpPr txBox="1"/>
          <p:nvPr/>
        </p:nvSpPr>
        <p:spPr>
          <a:xfrm>
            <a:off x="914400" y="2560320"/>
            <a:ext cx="10241280" cy="914400"/>
          </a:xfrm>
          <a:prstGeom prst="rect">
            <a:avLst/>
          </a:prstGeom>
          <a:noFill/>
          <a:ln/>
        </p:spPr>
        <p:txBody>
          <a:bodyPr wrap="square" lIns="0" tIns="0" rIns="0" bIns="0" rtlCol="0" anchor="ctr"/>
          <a:lstStyle/>
          <a:p>
            <a:pPr indent="0" marL="0">
              <a:lnSpc>
                <a:spcPct val="120000"/>
              </a:lnSpc>
              <a:buNone/>
            </a:pPr>
            <a:r>
              <a:rPr lang="en-US" sz="1300" dirty="0">
                <a:solidFill>
                  <a:srgbClr val="AEB9D4"/>
                </a:solidFill>
                <a:latin typeface="Calibri" pitchFamily="34" charset="0"/>
                <a:ea typeface="Calibri" pitchFamily="34" charset="-122"/>
                <a:cs typeface="Calibri" pitchFamily="34" charset="-120"/>
              </a:rPr>
              <a:t>Je souhaite orienter mon parcours vers le domaine de l'intelligence artificielle. Je n'ai pas encore arrêté de choix sur un poste précis, et je reste ouvert à découvrir différents environnements pour affiner ce projet.</a:t>
            </a:r>
            <a:endParaRPr lang="en-US" sz="1300" dirty="0"/>
          </a:p>
        </p:txBody>
      </p:sp>
      <p:sp>
        <p:nvSpPr>
          <p:cNvPr id="7" name="Text 5"/>
          <p:cNvSpPr txBox="1"/>
          <p:nvPr/>
        </p:nvSpPr>
        <p:spPr>
          <a:xfrm>
            <a:off x="640080" y="3840480"/>
            <a:ext cx="5486400" cy="274320"/>
          </a:xfrm>
          <a:prstGeom prst="rect">
            <a:avLst/>
          </a:prstGeom>
          <a:noFill/>
          <a:ln/>
        </p:spPr>
        <p:txBody>
          <a:bodyPr wrap="square" lIns="0" tIns="0" rIns="0" bIns="0" rtlCol="0" anchor="ctr"/>
          <a:lstStyle/>
          <a:p>
            <a:pPr indent="0" marL="0">
              <a:buNone/>
            </a:pPr>
            <a:r>
              <a:rPr lang="en-US" sz="1200" b="1" spc="100" kern="0" dirty="0">
                <a:solidFill>
                  <a:srgbClr val="E8EEFC"/>
                </a:solidFill>
                <a:latin typeface="Calibri" pitchFamily="34" charset="0"/>
                <a:ea typeface="Calibri" pitchFamily="34" charset="-122"/>
                <a:cs typeface="Calibri" pitchFamily="34" charset="-120"/>
              </a:rPr>
              <a:t>Prochaines étapes</a:t>
            </a:r>
            <a:endParaRPr lang="en-US" sz="1200" dirty="0"/>
          </a:p>
        </p:txBody>
      </p:sp>
      <p:sp>
        <p:nvSpPr>
          <p:cNvPr id="8" name="Shape 6"/>
          <p:cNvSpPr/>
          <p:nvPr/>
        </p:nvSpPr>
        <p:spPr>
          <a:xfrm>
            <a:off x="640080" y="4160520"/>
            <a:ext cx="128016" cy="128016"/>
          </a:xfrm>
          <a:prstGeom prst="ellipse">
            <a:avLst/>
          </a:prstGeom>
          <a:solidFill>
            <a:srgbClr val="2F63E0"/>
          </a:solidFill>
          <a:ln/>
        </p:spPr>
      </p:sp>
      <p:sp>
        <p:nvSpPr>
          <p:cNvPr id="9" name="Text 7"/>
          <p:cNvSpPr txBox="1"/>
          <p:nvPr/>
        </p:nvSpPr>
        <p:spPr>
          <a:xfrm>
            <a:off x="640080" y="4160520"/>
            <a:ext cx="128016" cy="128016"/>
          </a:xfrm>
          <a:prstGeom prst="rect">
            <a:avLst/>
          </a:prstGeom>
          <a:noFill/>
          <a:ln/>
        </p:spPr>
        <p:txBody>
          <a:bodyPr wrap="square" lIns="0" tIns="0" rIns="0" bIns="0" rtlCol="0" anchor="ctr"/>
          <a:lstStyle/>
          <a:p>
            <a:pPr algn="ctr" indent="0" marL="0">
              <a:buNone/>
            </a:pPr>
            <a:endParaRPr lang="en-US" sz="1800" dirty="0"/>
          </a:p>
        </p:txBody>
      </p:sp>
      <p:sp>
        <p:nvSpPr>
          <p:cNvPr id="10" name="Text 8"/>
          <p:cNvSpPr txBox="1"/>
          <p:nvPr/>
        </p:nvSpPr>
        <p:spPr>
          <a:xfrm>
            <a:off x="960120" y="4050792"/>
            <a:ext cx="100584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Poursuivre en 2e année avec des modules dédiés à l'IA et à l'automatisation</a:t>
            </a:r>
            <a:endParaRPr lang="en-US" sz="1300" dirty="0"/>
          </a:p>
        </p:txBody>
      </p:sp>
      <p:sp>
        <p:nvSpPr>
          <p:cNvPr id="11" name="Shape 9"/>
          <p:cNvSpPr/>
          <p:nvPr/>
        </p:nvSpPr>
        <p:spPr>
          <a:xfrm>
            <a:off x="640080" y="4663440"/>
            <a:ext cx="128016" cy="128016"/>
          </a:xfrm>
          <a:prstGeom prst="ellipse">
            <a:avLst/>
          </a:prstGeom>
          <a:solidFill>
            <a:srgbClr val="2F63E0"/>
          </a:solidFill>
          <a:ln/>
        </p:spPr>
      </p:sp>
      <p:sp>
        <p:nvSpPr>
          <p:cNvPr id="12" name="Text 10"/>
          <p:cNvSpPr txBox="1"/>
          <p:nvPr/>
        </p:nvSpPr>
        <p:spPr>
          <a:xfrm>
            <a:off x="640080" y="4663440"/>
            <a:ext cx="128016" cy="128016"/>
          </a:xfrm>
          <a:prstGeom prst="rect">
            <a:avLst/>
          </a:prstGeom>
          <a:noFill/>
          <a:ln/>
        </p:spPr>
        <p:txBody>
          <a:bodyPr wrap="square" lIns="0" tIns="0" rIns="0" bIns="0" rtlCol="0" anchor="ctr"/>
          <a:lstStyle/>
          <a:p>
            <a:pPr algn="ctr" indent="0" marL="0">
              <a:buNone/>
            </a:pPr>
            <a:endParaRPr lang="en-US" sz="1800" dirty="0"/>
          </a:p>
        </p:txBody>
      </p:sp>
      <p:sp>
        <p:nvSpPr>
          <p:cNvPr id="13" name="Text 11"/>
          <p:cNvSpPr txBox="1"/>
          <p:nvPr/>
        </p:nvSpPr>
        <p:spPr>
          <a:xfrm>
            <a:off x="960120" y="4553712"/>
            <a:ext cx="100584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Rechercher un stage ou une alternance pour découvrir le monde professionnel</a:t>
            </a:r>
            <a:endParaRPr lang="en-US" sz="1300" dirty="0"/>
          </a:p>
        </p:txBody>
      </p:sp>
      <p:sp>
        <p:nvSpPr>
          <p:cNvPr id="14" name="Shape 12"/>
          <p:cNvSpPr/>
          <p:nvPr/>
        </p:nvSpPr>
        <p:spPr>
          <a:xfrm>
            <a:off x="640080" y="5166360"/>
            <a:ext cx="128016" cy="128016"/>
          </a:xfrm>
          <a:prstGeom prst="ellipse">
            <a:avLst/>
          </a:prstGeom>
          <a:solidFill>
            <a:srgbClr val="2F63E0"/>
          </a:solidFill>
          <a:ln/>
        </p:spPr>
      </p:sp>
      <p:sp>
        <p:nvSpPr>
          <p:cNvPr id="15" name="Text 13"/>
          <p:cNvSpPr txBox="1"/>
          <p:nvPr/>
        </p:nvSpPr>
        <p:spPr>
          <a:xfrm>
            <a:off x="640080" y="5166360"/>
            <a:ext cx="128016" cy="128016"/>
          </a:xfrm>
          <a:prstGeom prst="rect">
            <a:avLst/>
          </a:prstGeom>
          <a:noFill/>
          <a:ln/>
        </p:spPr>
        <p:txBody>
          <a:bodyPr wrap="square" lIns="0" tIns="0" rIns="0" bIns="0" rtlCol="0" anchor="ctr"/>
          <a:lstStyle/>
          <a:p>
            <a:pPr algn="ctr" indent="0" marL="0">
              <a:buNone/>
            </a:pPr>
            <a:endParaRPr lang="en-US" sz="1800" dirty="0"/>
          </a:p>
        </p:txBody>
      </p:sp>
      <p:sp>
        <p:nvSpPr>
          <p:cNvPr id="16" name="Text 14"/>
          <p:cNvSpPr txBox="1"/>
          <p:nvPr/>
        </p:nvSpPr>
        <p:spPr>
          <a:xfrm>
            <a:off x="960120" y="5056632"/>
            <a:ext cx="100584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Continuer à construire des projets personnels pour progresser en autonomie</a:t>
            </a:r>
            <a:endParaRPr lang="en-US" sz="1300" dirty="0"/>
          </a:p>
        </p:txBody>
      </p:sp>
      <p:sp>
        <p:nvSpPr>
          <p:cNvPr id="17" name="Text 15"/>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AEB9D4"/>
                </a:solidFill>
                <a:latin typeface="Calibri" pitchFamily="34" charset="0"/>
                <a:ea typeface="Calibri" pitchFamily="34" charset="-122"/>
                <a:cs typeface="Calibri" pitchFamily="34" charset="-120"/>
              </a:rPr>
              <a:t>Portfolio — 1ère année IPSSI</a:t>
            </a:r>
            <a:endParaRPr lang="en-US" sz="1000" dirty="0"/>
          </a:p>
        </p:txBody>
      </p:sp>
      <p:sp>
        <p:nvSpPr>
          <p:cNvPr id="18" name="Text 16"/>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AEB9D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3D"/>
        </a:solidFill>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16234B"/>
          </a:solidFill>
          <a:ln/>
        </p:spPr>
      </p:sp>
      <p:sp>
        <p:nvSpPr>
          <p:cNvPr id="3" name="Text 1"/>
          <p:cNvSpPr txBox="1"/>
          <p:nvPr/>
        </p:nvSpPr>
        <p:spPr>
          <a:xfrm>
            <a:off x="822960" y="2286000"/>
            <a:ext cx="9144000" cy="365760"/>
          </a:xfrm>
          <a:prstGeom prst="rect">
            <a:avLst/>
          </a:prstGeom>
          <a:noFill/>
          <a:ln/>
        </p:spPr>
        <p:txBody>
          <a:bodyPr wrap="square" lIns="0" tIns="0" rIns="0" bIns="0" rtlCol="0" anchor="ctr"/>
          <a:lstStyle/>
          <a:p>
            <a:pPr indent="0" marL="0">
              <a:buNone/>
            </a:pPr>
            <a:r>
              <a:rPr lang="en-US" sz="1300" b="1" spc="150" kern="0" dirty="0">
                <a:solidFill>
                  <a:srgbClr val="2F63E0"/>
                </a:solidFill>
                <a:latin typeface="Calibri" pitchFamily="34" charset="0"/>
                <a:ea typeface="Calibri" pitchFamily="34" charset="-122"/>
                <a:cs typeface="Calibri" pitchFamily="34" charset="-120"/>
              </a:rPr>
              <a:t>MERCI DE VOTRE ATTENTION</a:t>
            </a:r>
            <a:endParaRPr lang="en-US" sz="1300" dirty="0"/>
          </a:p>
        </p:txBody>
      </p:sp>
      <p:sp>
        <p:nvSpPr>
          <p:cNvPr id="4" name="Text 2"/>
          <p:cNvSpPr txBox="1"/>
          <p:nvPr/>
        </p:nvSpPr>
        <p:spPr>
          <a:xfrm>
            <a:off x="777240" y="2697480"/>
            <a:ext cx="91440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Des questions ?</a:t>
            </a:r>
            <a:endParaRPr lang="en-US" sz="4400" dirty="0"/>
          </a:p>
        </p:txBody>
      </p:sp>
      <p:sp>
        <p:nvSpPr>
          <p:cNvPr id="5" name="Shape 3"/>
          <p:cNvSpPr/>
          <p:nvPr/>
        </p:nvSpPr>
        <p:spPr>
          <a:xfrm>
            <a:off x="822960" y="3749040"/>
            <a:ext cx="1188720" cy="0"/>
          </a:xfrm>
          <a:prstGeom prst="line">
            <a:avLst/>
          </a:prstGeom>
          <a:noFill/>
          <a:ln w="38100">
            <a:solidFill>
              <a:srgbClr val="2F63E0"/>
            </a:solidFill>
            <a:prstDash val="solid"/>
          </a:ln>
        </p:spPr>
      </p:sp>
      <p:sp>
        <p:nvSpPr>
          <p:cNvPr id="6" name="Text 4"/>
          <p:cNvSpPr txBox="1"/>
          <p:nvPr/>
        </p:nvSpPr>
        <p:spPr>
          <a:xfrm>
            <a:off x="822960" y="3977640"/>
            <a:ext cx="7315200" cy="365760"/>
          </a:xfrm>
          <a:prstGeom prst="rect">
            <a:avLst/>
          </a:prstGeom>
          <a:noFill/>
          <a:ln/>
        </p:spPr>
        <p:txBody>
          <a:bodyPr wrap="square" lIns="0" tIns="0" rIns="0" bIns="0" rtlCol="0" anchor="ctr"/>
          <a:lstStyle/>
          <a:p>
            <a:pPr indent="0" marL="0">
              <a:buNone/>
            </a:pPr>
            <a:r>
              <a:rPr lang="en-US" sz="1300" dirty="0">
                <a:solidFill>
                  <a:srgbClr val="AEB9D4"/>
                </a:solidFill>
                <a:latin typeface="Calibri" pitchFamily="34" charset="0"/>
                <a:ea typeface="Calibri" pitchFamily="34" charset="-122"/>
                <a:cs typeface="Calibri" pitchFamily="34" charset="-120"/>
              </a:rPr>
              <a:t>premicesjacedan@gmail.com  ·  07 46 27 99 98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2026-09-27T14:37:04Z</dcterms:created>
  <dcterms:modified xsi:type="dcterms:W3CDTF">2026-09-27T14:37:04Z</dcterms:modified>
</cp:coreProperties>
</file>